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7" r:id="rId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jdo7FECp685JsX7/4pIVeoAktj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3A25F3-C081-4883-AB7D-81D6D5120333}" v="5" dt="2025-10-02T17:29:08.9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0" d="100"/>
          <a:sy n="110" d="100"/>
        </p:scale>
        <p:origin x="1644"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notesMaster" Target="notesMasters/notesMaster1.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hra, Ritu, VBAVACO" userId="a6fc6115-4e9e-4fd4-a243-9de3bfa497a7" providerId="ADAL" clId="{C73A25F3-C081-4883-AB7D-81D6D5120333}"/>
    <pc:docChg chg="undo custSel addSld delSld modSld">
      <pc:chgData name="Mishra, Ritu, VBAVACO" userId="a6fc6115-4e9e-4fd4-a243-9de3bfa497a7" providerId="ADAL" clId="{C73A25F3-C081-4883-AB7D-81D6D5120333}" dt="2025-10-02T17:48:24.785" v="4171" actId="255"/>
      <pc:docMkLst>
        <pc:docMk/>
      </pc:docMkLst>
      <pc:sldChg chg="modSp del mod">
        <pc:chgData name="Mishra, Ritu, VBAVACO" userId="a6fc6115-4e9e-4fd4-a243-9de3bfa497a7" providerId="ADAL" clId="{C73A25F3-C081-4883-AB7D-81D6D5120333}" dt="2025-10-02T17:48:18.162" v="4170" actId="2696"/>
        <pc:sldMkLst>
          <pc:docMk/>
          <pc:sldMk cId="0" sldId="256"/>
        </pc:sldMkLst>
        <pc:spChg chg="mod">
          <ac:chgData name="Mishra, Ritu, VBAVACO" userId="a6fc6115-4e9e-4fd4-a243-9de3bfa497a7" providerId="ADAL" clId="{C73A25F3-C081-4883-AB7D-81D6D5120333}" dt="2025-10-02T16:29:06.426" v="517" actId="20577"/>
          <ac:spMkLst>
            <pc:docMk/>
            <pc:sldMk cId="0" sldId="256"/>
            <ac:spMk id="34" creationId="{00000000-0000-0000-0000-000000000000}"/>
          </ac:spMkLst>
        </pc:spChg>
      </pc:sldChg>
      <pc:sldChg chg="addSp delSp modSp add mod">
        <pc:chgData name="Mishra, Ritu, VBAVACO" userId="a6fc6115-4e9e-4fd4-a243-9de3bfa497a7" providerId="ADAL" clId="{C73A25F3-C081-4883-AB7D-81D6D5120333}" dt="2025-10-02T17:48:24.785" v="4171" actId="255"/>
        <pc:sldMkLst>
          <pc:docMk/>
          <pc:sldMk cId="2668347303" sldId="257"/>
        </pc:sldMkLst>
        <pc:spChg chg="mod">
          <ac:chgData name="Mishra, Ritu, VBAVACO" userId="a6fc6115-4e9e-4fd4-a243-9de3bfa497a7" providerId="ADAL" clId="{C73A25F3-C081-4883-AB7D-81D6D5120333}" dt="2025-10-02T17:29:53.214" v="2803" actId="14100"/>
          <ac:spMkLst>
            <pc:docMk/>
            <pc:sldMk cId="2668347303" sldId="257"/>
            <ac:spMk id="20" creationId="{462E59AF-FFCD-1B1B-812D-DAC7C97814EC}"/>
          </ac:spMkLst>
        </pc:spChg>
        <pc:spChg chg="mod">
          <ac:chgData name="Mishra, Ritu, VBAVACO" userId="a6fc6115-4e9e-4fd4-a243-9de3bfa497a7" providerId="ADAL" clId="{C73A25F3-C081-4883-AB7D-81D6D5120333}" dt="2025-10-02T17:28:06.179" v="2783" actId="14100"/>
          <ac:spMkLst>
            <pc:docMk/>
            <pc:sldMk cId="2668347303" sldId="257"/>
            <ac:spMk id="21" creationId="{698A7A08-0970-64F3-C4A5-8863A082BF8C}"/>
          </ac:spMkLst>
        </pc:spChg>
        <pc:spChg chg="mod">
          <ac:chgData name="Mishra, Ritu, VBAVACO" userId="a6fc6115-4e9e-4fd4-a243-9de3bfa497a7" providerId="ADAL" clId="{C73A25F3-C081-4883-AB7D-81D6D5120333}" dt="2025-10-02T17:27:14.228" v="2781" actId="1076"/>
          <ac:spMkLst>
            <pc:docMk/>
            <pc:sldMk cId="2668347303" sldId="257"/>
            <ac:spMk id="22" creationId="{AA4C7434-21F0-D712-352F-A4E14E81D83C}"/>
          </ac:spMkLst>
        </pc:spChg>
        <pc:spChg chg="add del mod">
          <ac:chgData name="Mishra, Ritu, VBAVACO" userId="a6fc6115-4e9e-4fd4-a243-9de3bfa497a7" providerId="ADAL" clId="{C73A25F3-C081-4883-AB7D-81D6D5120333}" dt="2025-10-02T17:28:15.492" v="2785" actId="1076"/>
          <ac:spMkLst>
            <pc:docMk/>
            <pc:sldMk cId="2668347303" sldId="257"/>
            <ac:spMk id="23" creationId="{E3FBDD2F-16DC-171D-0E09-269C47A771FD}"/>
          </ac:spMkLst>
        </pc:spChg>
        <pc:spChg chg="mod">
          <ac:chgData name="Mishra, Ritu, VBAVACO" userId="a6fc6115-4e9e-4fd4-a243-9de3bfa497a7" providerId="ADAL" clId="{C73A25F3-C081-4883-AB7D-81D6D5120333}" dt="2025-10-02T17:27:11.298" v="2780" actId="1076"/>
          <ac:spMkLst>
            <pc:docMk/>
            <pc:sldMk cId="2668347303" sldId="257"/>
            <ac:spMk id="24" creationId="{86881342-6480-7DA3-C296-7B91985B50B7}"/>
          </ac:spMkLst>
        </pc:spChg>
        <pc:spChg chg="add del mod">
          <ac:chgData name="Mishra, Ritu, VBAVACO" userId="a6fc6115-4e9e-4fd4-a243-9de3bfa497a7" providerId="ADAL" clId="{C73A25F3-C081-4883-AB7D-81D6D5120333}" dt="2025-10-02T17:28:11.868" v="2784" actId="1076"/>
          <ac:spMkLst>
            <pc:docMk/>
            <pc:sldMk cId="2668347303" sldId="257"/>
            <ac:spMk id="25" creationId="{1EE23794-2881-47C8-2885-FA9F3E335D50}"/>
          </ac:spMkLst>
        </pc:spChg>
        <pc:spChg chg="mod">
          <ac:chgData name="Mishra, Ritu, VBAVACO" userId="a6fc6115-4e9e-4fd4-a243-9de3bfa497a7" providerId="ADAL" clId="{C73A25F3-C081-4883-AB7D-81D6D5120333}" dt="2025-10-02T17:07:19.633" v="2063" actId="1076"/>
          <ac:spMkLst>
            <pc:docMk/>
            <pc:sldMk cId="2668347303" sldId="257"/>
            <ac:spMk id="27" creationId="{26BFFD81-85CC-4A31-4D33-91C34D13C581}"/>
          </ac:spMkLst>
        </pc:spChg>
        <pc:spChg chg="mod">
          <ac:chgData name="Mishra, Ritu, VBAVACO" userId="a6fc6115-4e9e-4fd4-a243-9de3bfa497a7" providerId="ADAL" clId="{C73A25F3-C081-4883-AB7D-81D6D5120333}" dt="2025-10-02T17:07:16.856" v="2062" actId="1076"/>
          <ac:spMkLst>
            <pc:docMk/>
            <pc:sldMk cId="2668347303" sldId="257"/>
            <ac:spMk id="28" creationId="{2E49B3B7-32BB-3C14-2319-97545D1DA97B}"/>
          </ac:spMkLst>
        </pc:spChg>
        <pc:spChg chg="mod">
          <ac:chgData name="Mishra, Ritu, VBAVACO" userId="a6fc6115-4e9e-4fd4-a243-9de3bfa497a7" providerId="ADAL" clId="{C73A25F3-C081-4883-AB7D-81D6D5120333}" dt="2025-10-02T16:57:04.174" v="1504" actId="1076"/>
          <ac:spMkLst>
            <pc:docMk/>
            <pc:sldMk cId="2668347303" sldId="257"/>
            <ac:spMk id="30" creationId="{6CB679B0-E814-BE59-1613-7CA450C1E20C}"/>
          </ac:spMkLst>
        </pc:spChg>
        <pc:spChg chg="mod">
          <ac:chgData name="Mishra, Ritu, VBAVACO" userId="a6fc6115-4e9e-4fd4-a243-9de3bfa497a7" providerId="ADAL" clId="{C73A25F3-C081-4883-AB7D-81D6D5120333}" dt="2025-10-02T17:19:32.567" v="2413" actId="1076"/>
          <ac:spMkLst>
            <pc:docMk/>
            <pc:sldMk cId="2668347303" sldId="257"/>
            <ac:spMk id="31" creationId="{E1495422-FBC1-A0DA-A89D-3DD609943ACF}"/>
          </ac:spMkLst>
        </pc:spChg>
        <pc:spChg chg="mod">
          <ac:chgData name="Mishra, Ritu, VBAVACO" userId="a6fc6115-4e9e-4fd4-a243-9de3bfa497a7" providerId="ADAL" clId="{C73A25F3-C081-4883-AB7D-81D6D5120333}" dt="2025-10-02T16:56:59.910" v="1503" actId="1076"/>
          <ac:spMkLst>
            <pc:docMk/>
            <pc:sldMk cId="2668347303" sldId="257"/>
            <ac:spMk id="32" creationId="{3EF17DE2-AD03-C147-E7C7-3B6B11AD449E}"/>
          </ac:spMkLst>
        </pc:spChg>
        <pc:spChg chg="mod">
          <ac:chgData name="Mishra, Ritu, VBAVACO" userId="a6fc6115-4e9e-4fd4-a243-9de3bfa497a7" providerId="ADAL" clId="{C73A25F3-C081-4883-AB7D-81D6D5120333}" dt="2025-10-02T17:19:27.851" v="2412" actId="1076"/>
          <ac:spMkLst>
            <pc:docMk/>
            <pc:sldMk cId="2668347303" sldId="257"/>
            <ac:spMk id="33" creationId="{6286A4D6-B7AC-D60A-3898-32C1E50F8B79}"/>
          </ac:spMkLst>
        </pc:spChg>
        <pc:spChg chg="mod">
          <ac:chgData name="Mishra, Ritu, VBAVACO" userId="a6fc6115-4e9e-4fd4-a243-9de3bfa497a7" providerId="ADAL" clId="{C73A25F3-C081-4883-AB7D-81D6D5120333}" dt="2025-10-02T17:29:25.098" v="2802" actId="20577"/>
          <ac:spMkLst>
            <pc:docMk/>
            <pc:sldMk cId="2668347303" sldId="257"/>
            <ac:spMk id="34" creationId="{A3E4BC70-9740-1600-1974-564818F9944A}"/>
          </ac:spMkLst>
        </pc:spChg>
        <pc:spChg chg="mod">
          <ac:chgData name="Mishra, Ritu, VBAVACO" userId="a6fc6115-4e9e-4fd4-a243-9de3bfa497a7" providerId="ADAL" clId="{C73A25F3-C081-4883-AB7D-81D6D5120333}" dt="2025-10-02T17:24:18.447" v="2595" actId="20577"/>
          <ac:spMkLst>
            <pc:docMk/>
            <pc:sldMk cId="2668347303" sldId="257"/>
            <ac:spMk id="35" creationId="{EEF04DDC-3E74-0104-A274-ADCEF114EE75}"/>
          </ac:spMkLst>
        </pc:spChg>
        <pc:spChg chg="mod">
          <ac:chgData name="Mishra, Ritu, VBAVACO" userId="a6fc6115-4e9e-4fd4-a243-9de3bfa497a7" providerId="ADAL" clId="{C73A25F3-C081-4883-AB7D-81D6D5120333}" dt="2025-10-02T17:33:03.240" v="3117" actId="6549"/>
          <ac:spMkLst>
            <pc:docMk/>
            <pc:sldMk cId="2668347303" sldId="257"/>
            <ac:spMk id="36" creationId="{369953B4-55E3-045C-7B7E-4057B4836199}"/>
          </ac:spMkLst>
        </pc:spChg>
        <pc:spChg chg="mod">
          <ac:chgData name="Mishra, Ritu, VBAVACO" userId="a6fc6115-4e9e-4fd4-a243-9de3bfa497a7" providerId="ADAL" clId="{C73A25F3-C081-4883-AB7D-81D6D5120333}" dt="2025-10-02T17:45:22.492" v="4069" actId="20577"/>
          <ac:spMkLst>
            <pc:docMk/>
            <pc:sldMk cId="2668347303" sldId="257"/>
            <ac:spMk id="37" creationId="{A3C9CA4A-A512-DD1E-CB89-4C2185477173}"/>
          </ac:spMkLst>
        </pc:spChg>
        <pc:spChg chg="mod">
          <ac:chgData name="Mishra, Ritu, VBAVACO" userId="a6fc6115-4e9e-4fd4-a243-9de3bfa497a7" providerId="ADAL" clId="{C73A25F3-C081-4883-AB7D-81D6D5120333}" dt="2025-10-02T17:48:07.561" v="4169" actId="20577"/>
          <ac:spMkLst>
            <pc:docMk/>
            <pc:sldMk cId="2668347303" sldId="257"/>
            <ac:spMk id="38" creationId="{A920C16B-67D3-535B-1B6C-9027C7508944}"/>
          </ac:spMkLst>
        </pc:spChg>
        <pc:spChg chg="mod">
          <ac:chgData name="Mishra, Ritu, VBAVACO" userId="a6fc6115-4e9e-4fd4-a243-9de3bfa497a7" providerId="ADAL" clId="{C73A25F3-C081-4883-AB7D-81D6D5120333}" dt="2025-10-02T17:47:13.735" v="4136" actId="12"/>
          <ac:spMkLst>
            <pc:docMk/>
            <pc:sldMk cId="2668347303" sldId="257"/>
            <ac:spMk id="47" creationId="{EBC4D470-0AB6-C3DB-C0A6-1114498A1A15}"/>
          </ac:spMkLst>
        </pc:spChg>
        <pc:spChg chg="mod">
          <ac:chgData name="Mishra, Ritu, VBAVACO" userId="a6fc6115-4e9e-4fd4-a243-9de3bfa497a7" providerId="ADAL" clId="{C73A25F3-C081-4883-AB7D-81D6D5120333}" dt="2025-10-02T17:48:24.785" v="4171" actId="255"/>
          <ac:spMkLst>
            <pc:docMk/>
            <pc:sldMk cId="2668347303" sldId="257"/>
            <ac:spMk id="48" creationId="{BC375DBE-5E66-D92C-0923-E727FADC8FA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a:extLst>
            <a:ext uri="{FF2B5EF4-FFF2-40B4-BE49-F238E27FC236}">
              <a16:creationId xmlns:a16="http://schemas.microsoft.com/office/drawing/2014/main" id="{373A1B56-589D-2843-2D24-34FF65068F08}"/>
            </a:ext>
          </a:extLst>
        </p:cNvPr>
        <p:cNvGrpSpPr/>
        <p:nvPr/>
      </p:nvGrpSpPr>
      <p:grpSpPr>
        <a:xfrm>
          <a:off x="0" y="0"/>
          <a:ext cx="0" cy="0"/>
          <a:chOff x="0" y="0"/>
          <a:chExt cx="0" cy="0"/>
        </a:xfrm>
      </p:grpSpPr>
      <p:sp>
        <p:nvSpPr>
          <p:cNvPr id="16" name="Google Shape;16;p1:notes">
            <a:extLst>
              <a:ext uri="{FF2B5EF4-FFF2-40B4-BE49-F238E27FC236}">
                <a16:creationId xmlns:a16="http://schemas.microsoft.com/office/drawing/2014/main" id="{62FA1C80-B45D-316B-5BA0-CE3017EEBC63}"/>
              </a:ext>
            </a:extLst>
          </p:cNvPr>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a:t>
            </a:fld>
            <a:endParaRPr sz="1800" b="0" i="0" u="none" strike="noStrike" cap="none">
              <a:solidFill>
                <a:srgbClr val="000000"/>
              </a:solidFill>
            </a:endParaRPr>
          </a:p>
        </p:txBody>
      </p:sp>
      <p:sp>
        <p:nvSpPr>
          <p:cNvPr id="17" name="Google Shape;17;p1:notes">
            <a:extLst>
              <a:ext uri="{FF2B5EF4-FFF2-40B4-BE49-F238E27FC236}">
                <a16:creationId xmlns:a16="http://schemas.microsoft.com/office/drawing/2014/main" id="{12BF31B1-2056-31EF-6D62-AF9C7EFDAE27}"/>
              </a:ext>
            </a:extLst>
          </p:cNvPr>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a:extLst>
              <a:ext uri="{FF2B5EF4-FFF2-40B4-BE49-F238E27FC236}">
                <a16:creationId xmlns:a16="http://schemas.microsoft.com/office/drawing/2014/main" id="{49EE2846-BDBB-2BB4-DA8D-E1871DC98A42}"/>
              </a:ext>
            </a:extLst>
          </p:cNvPr>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b="1" dirty="0"/>
              <a:t>Hypothesis: </a:t>
            </a:r>
            <a:r>
              <a:rPr lang="en-AU" sz="1200" b="0" i="1" u="none" strike="noStrike" cap="none" dirty="0">
                <a:solidFill>
                  <a:srgbClr val="000000"/>
                </a:solidFill>
                <a:latin typeface="Arial"/>
                <a:ea typeface="Arial"/>
                <a:cs typeface="Arial"/>
                <a:sym typeface="Arial"/>
              </a:rPr>
              <a:t>Create a Hypothesis with an emphasis on SMART principles. </a:t>
            </a:r>
            <a:r>
              <a:rPr lang="en-AU" sz="1200" b="1" i="1" u="none" strike="noStrike" cap="none" dirty="0">
                <a:solidFill>
                  <a:srgbClr val="000000"/>
                </a:solidFill>
                <a:latin typeface="Arial"/>
                <a:ea typeface="Arial"/>
                <a:cs typeface="Arial"/>
                <a:sym typeface="Arial"/>
              </a:rPr>
              <a:t>(</a:t>
            </a:r>
            <a:r>
              <a:rPr lang="en-AU" sz="1200" b="1" i="1" dirty="0"/>
              <a:t>S – Specific, M – Measurable, A – Action oriented, R – Relevant, T – Timebound). </a:t>
            </a:r>
            <a:r>
              <a:rPr lang="en-AU" sz="1200" b="0" i="0" dirty="0"/>
              <a:t>If you cannot do this, you </a:t>
            </a:r>
            <a:r>
              <a:rPr lang="en-AU" sz="1200" b="1" i="0" dirty="0"/>
              <a:t>do not</a:t>
            </a:r>
            <a:r>
              <a:rPr lang="en-AU" sz="1200" b="0" i="0" dirty="0"/>
              <a:t> have a good grasp on the business problem.</a:t>
            </a:r>
            <a:endParaRPr b="1" dirty="0"/>
          </a:p>
          <a:p>
            <a:pPr marL="0" lvl="0" indent="0" algn="l" rtl="0">
              <a:lnSpc>
                <a:spcPct val="100000"/>
              </a:lnSpc>
              <a:spcBef>
                <a:spcPts val="0"/>
              </a:spcBef>
              <a:spcAft>
                <a:spcPts val="0"/>
              </a:spcAft>
              <a:buSzPts val="1400"/>
              <a:buNone/>
            </a:pPr>
            <a:endParaRPr dirty="0"/>
          </a:p>
          <a:p>
            <a:pPr marL="0" marR="0" lvl="0" indent="0" algn="l" rtl="0">
              <a:lnSpc>
                <a:spcPct val="100000"/>
              </a:lnSpc>
              <a:spcBef>
                <a:spcPts val="0"/>
              </a:spcBef>
              <a:spcAft>
                <a:spcPts val="0"/>
              </a:spcAft>
              <a:buClr>
                <a:srgbClr val="000000"/>
              </a:buClr>
              <a:buSzPts val="1400"/>
              <a:buFont typeface="Arial"/>
              <a:buNone/>
            </a:pPr>
            <a:r>
              <a:rPr lang="en-AU" b="1" dirty="0"/>
              <a:t>Context: </a:t>
            </a:r>
            <a:r>
              <a:rPr lang="en-AU" sz="1200" dirty="0"/>
              <a:t>With context, we have </a:t>
            </a:r>
            <a:r>
              <a:rPr lang="en-AU" sz="1200" b="1" u="sng" dirty="0"/>
              <a:t>clearly identified the problem at hand </a:t>
            </a:r>
            <a:r>
              <a:rPr lang="en-AU" sz="1200" dirty="0"/>
              <a:t>and have elucidated on how our initiative may solve this problem, alongside the commercial implications this will have on the business. </a:t>
            </a:r>
            <a:endParaRPr dirty="0"/>
          </a:p>
          <a:p>
            <a:pPr marL="0" lvl="0" indent="0" algn="l" rtl="0">
              <a:lnSpc>
                <a:spcPct val="100000"/>
              </a:lnSpc>
              <a:spcBef>
                <a:spcPts val="0"/>
              </a:spcBef>
              <a:spcAft>
                <a:spcPts val="0"/>
              </a:spcAft>
              <a:buSzPts val="1400"/>
              <a:buNone/>
            </a:pPr>
            <a:endParaRPr b="1" dirty="0"/>
          </a:p>
          <a:p>
            <a:pPr marL="0" lvl="0" indent="0" algn="l" rtl="0">
              <a:lnSpc>
                <a:spcPct val="100000"/>
              </a:lnSpc>
              <a:spcBef>
                <a:spcPts val="0"/>
              </a:spcBef>
              <a:spcAft>
                <a:spcPts val="0"/>
              </a:spcAft>
              <a:buSzPts val="1400"/>
              <a:buNone/>
            </a:pPr>
            <a:r>
              <a:rPr lang="en-AU" b="1" dirty="0"/>
              <a:t>Criteria for Success</a:t>
            </a:r>
            <a:r>
              <a:rPr lang="en-AU" b="0" dirty="0"/>
              <a:t>: Clearly defining the criteria for success ensures that the scope of your work is clearly defined and understood. Otherwise, if this isn’t defined – your work will never end which will result in mismatched expectations.</a:t>
            </a:r>
            <a:endParaRPr dirty="0"/>
          </a:p>
          <a:p>
            <a:pPr marL="0" lvl="0" indent="0" algn="l" rtl="0">
              <a:lnSpc>
                <a:spcPct val="100000"/>
              </a:lnSpc>
              <a:spcBef>
                <a:spcPts val="0"/>
              </a:spcBef>
              <a:spcAft>
                <a:spcPts val="0"/>
              </a:spcAft>
              <a:buSzPts val="1400"/>
              <a:buNone/>
            </a:pPr>
            <a:endParaRPr b="0" dirty="0"/>
          </a:p>
          <a:p>
            <a:pPr marL="0" lvl="0" indent="0" algn="l" rtl="0">
              <a:lnSpc>
                <a:spcPct val="100000"/>
              </a:lnSpc>
              <a:spcBef>
                <a:spcPts val="0"/>
              </a:spcBef>
              <a:spcAft>
                <a:spcPts val="0"/>
              </a:spcAft>
              <a:buSzPts val="1400"/>
              <a:buNone/>
            </a:pPr>
            <a:r>
              <a:rPr lang="en-AU" b="1" dirty="0"/>
              <a:t>Scope of Solution Space: </a:t>
            </a:r>
            <a:r>
              <a:rPr lang="en-AU" b="0" dirty="0"/>
              <a:t>Scoping out the solution space ensures that the business initiative is SPECIFIC for a certain segment or area. This prevents solutions that have been developed being scaled and applied for all other business units that the solution may not be responsible or scalable for.</a:t>
            </a:r>
            <a:endParaRPr dirty="0"/>
          </a:p>
          <a:p>
            <a:pPr marL="0" lvl="0" indent="0" algn="l" rtl="0">
              <a:lnSpc>
                <a:spcPct val="100000"/>
              </a:lnSpc>
              <a:spcBef>
                <a:spcPts val="0"/>
              </a:spcBef>
              <a:spcAft>
                <a:spcPts val="0"/>
              </a:spcAft>
              <a:buSzPts val="1400"/>
              <a:buNone/>
            </a:pPr>
            <a:endParaRPr b="0" dirty="0"/>
          </a:p>
          <a:p>
            <a:pPr marL="0" lvl="0" indent="0" algn="l" rtl="0">
              <a:lnSpc>
                <a:spcPct val="100000"/>
              </a:lnSpc>
              <a:spcBef>
                <a:spcPts val="0"/>
              </a:spcBef>
              <a:spcAft>
                <a:spcPts val="0"/>
              </a:spcAft>
              <a:buSzPts val="1400"/>
              <a:buNone/>
            </a:pPr>
            <a:r>
              <a:rPr lang="en-AU" b="1" dirty="0"/>
              <a:t>Constraints within Solution Space: </a:t>
            </a:r>
            <a:r>
              <a:rPr lang="en-AU" b="0" dirty="0"/>
              <a:t>Looking forward, what are the foreseeable problems we are likely to encounter? Could this be stakeholder resistance? Could this be we don’t have access to the right data? </a:t>
            </a:r>
            <a:endParaRPr dirty="0"/>
          </a:p>
          <a:p>
            <a:pPr marL="0" lvl="0" indent="0" algn="l" rtl="0">
              <a:lnSpc>
                <a:spcPct val="100000"/>
              </a:lnSpc>
              <a:spcBef>
                <a:spcPts val="0"/>
              </a:spcBef>
              <a:spcAft>
                <a:spcPts val="0"/>
              </a:spcAft>
              <a:buSzPts val="1400"/>
              <a:buNone/>
            </a:pPr>
            <a:endParaRPr b="0" dirty="0"/>
          </a:p>
          <a:p>
            <a:pPr marL="0" lvl="0" indent="0" algn="l" rtl="0">
              <a:lnSpc>
                <a:spcPct val="100000"/>
              </a:lnSpc>
              <a:spcBef>
                <a:spcPts val="0"/>
              </a:spcBef>
              <a:spcAft>
                <a:spcPts val="0"/>
              </a:spcAft>
              <a:buSzPts val="1400"/>
              <a:buNone/>
            </a:pPr>
            <a:r>
              <a:rPr lang="en-AU" b="1" dirty="0"/>
              <a:t>Stakeholders to provide key insight: </a:t>
            </a:r>
            <a:r>
              <a:rPr lang="en-AU" b="0" dirty="0"/>
              <a:t>Who are the people I need to speak to, to get the answers I need for my data analysis?</a:t>
            </a:r>
            <a:endParaRPr dirty="0"/>
          </a:p>
          <a:p>
            <a:pPr marL="0" lvl="0" indent="0" algn="l" rtl="0">
              <a:lnSpc>
                <a:spcPct val="100000"/>
              </a:lnSpc>
              <a:spcBef>
                <a:spcPts val="0"/>
              </a:spcBef>
              <a:spcAft>
                <a:spcPts val="0"/>
              </a:spcAft>
              <a:buSzPts val="1400"/>
              <a:buNone/>
            </a:pPr>
            <a:endParaRPr b="0" dirty="0"/>
          </a:p>
          <a:p>
            <a:pPr marL="0" lvl="0" indent="0" algn="l" rtl="0">
              <a:lnSpc>
                <a:spcPct val="100000"/>
              </a:lnSpc>
              <a:spcBef>
                <a:spcPts val="0"/>
              </a:spcBef>
              <a:spcAft>
                <a:spcPts val="0"/>
              </a:spcAft>
              <a:buSzPts val="1400"/>
              <a:buNone/>
            </a:pPr>
            <a:r>
              <a:rPr lang="en-AU" b="1" dirty="0"/>
              <a:t>What key data sources are required</a:t>
            </a:r>
            <a:r>
              <a:rPr lang="en-AU" b="0" dirty="0"/>
              <a:t>?</a:t>
            </a:r>
            <a:endParaRPr dirty="0"/>
          </a:p>
          <a:p>
            <a:pPr marL="0" lvl="0" indent="0" algn="l" rtl="0">
              <a:lnSpc>
                <a:spcPct val="100000"/>
              </a:lnSpc>
              <a:spcBef>
                <a:spcPts val="0"/>
              </a:spcBef>
              <a:spcAft>
                <a:spcPts val="0"/>
              </a:spcAft>
              <a:buSzPts val="1400"/>
              <a:buNone/>
            </a:pPr>
            <a:r>
              <a:rPr lang="en-AU" b="0" dirty="0"/>
              <a:t>Based off my discussions with the key stakeholders – can we clearly list out all the data sources we need so we can make a highly targeted request as opposed to a scatter-gun approach where we ask for a bit of everything?</a:t>
            </a:r>
            <a:endParaRPr dirty="0"/>
          </a:p>
          <a:p>
            <a:pPr marL="0" lvl="0" indent="0" algn="l" rtl="0">
              <a:lnSpc>
                <a:spcPct val="100000"/>
              </a:lnSpc>
              <a:spcBef>
                <a:spcPts val="0"/>
              </a:spcBef>
              <a:spcAft>
                <a:spcPts val="0"/>
              </a:spcAft>
              <a:buSzPts val="1400"/>
              <a:buNone/>
            </a:pPr>
            <a:endParaRPr b="1" dirty="0"/>
          </a:p>
          <a:p>
            <a:pPr marL="0" lvl="0" indent="0" algn="l" rtl="0">
              <a:lnSpc>
                <a:spcPct val="100000"/>
              </a:lnSpc>
              <a:spcBef>
                <a:spcPts val="0"/>
              </a:spcBef>
              <a:spcAft>
                <a:spcPts val="0"/>
              </a:spcAft>
              <a:buSzPts val="1400"/>
              <a:buNone/>
            </a:pPr>
            <a:endParaRPr b="1" dirty="0"/>
          </a:p>
        </p:txBody>
      </p:sp>
    </p:spTree>
    <p:extLst>
      <p:ext uri="{BB962C8B-B14F-4D97-AF65-F5344CB8AC3E}">
        <p14:creationId xmlns:p14="http://schemas.microsoft.com/office/powerpoint/2010/main" val="787911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8298444" y="37255"/>
            <a:ext cx="670614" cy="1247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816"/>
              <a:buFont typeface="Arial"/>
              <a:buNone/>
            </a:pPr>
            <a:endParaRPr sz="816" b="0" i="0" u="none" strike="noStrike" cap="none">
              <a:solidFill>
                <a:srgbClr val="000000"/>
              </a:solidFill>
              <a:latin typeface="Arial"/>
              <a:ea typeface="Arial"/>
              <a:cs typeface="Arial"/>
              <a:sym typeface="Arial"/>
            </a:endParaRPr>
          </a:p>
        </p:txBody>
      </p:sp>
      <p:sp>
        <p:nvSpPr>
          <p:cNvPr id="11" name="Google Shape;11;p2"/>
          <p:cNvSpPr txBox="1">
            <a:spLocks noGrp="1"/>
          </p:cNvSpPr>
          <p:nvPr>
            <p:ph type="body" idx="1"/>
          </p:nvPr>
        </p:nvSpPr>
        <p:spPr>
          <a:xfrm>
            <a:off x="2343099" y="2570857"/>
            <a:ext cx="4389768" cy="12561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32" b="0" i="0" u="none" strike="noStrike" cap="none">
                <a:solidFill>
                  <a:schemeClr val="dk1"/>
                </a:solidFill>
                <a:latin typeface="Arial"/>
                <a:ea typeface="Arial"/>
                <a:cs typeface="Arial"/>
                <a:sym typeface="Arial"/>
              </a:defRPr>
            </a:lvl1pPr>
            <a:lvl2pPr marL="914400" marR="0" lvl="1" indent="-358140" algn="l" rtl="0">
              <a:lnSpc>
                <a:spcPct val="100000"/>
              </a:lnSpc>
              <a:spcBef>
                <a:spcPts val="0"/>
              </a:spcBef>
              <a:spcAft>
                <a:spcPts val="0"/>
              </a:spcAft>
              <a:buClr>
                <a:schemeClr val="dk2"/>
              </a:buClr>
              <a:buSzPts val="2040"/>
              <a:buFont typeface="Arial"/>
              <a:buChar char="▪"/>
              <a:defRPr sz="1632" b="0" i="0" u="none" strike="noStrike" cap="none">
                <a:solidFill>
                  <a:schemeClr val="dk1"/>
                </a:solidFill>
                <a:latin typeface="Arial"/>
                <a:ea typeface="Arial"/>
                <a:cs typeface="Arial"/>
                <a:sym typeface="Arial"/>
              </a:defRPr>
            </a:lvl2pPr>
            <a:lvl3pPr marL="1371600" marR="0" lvl="2"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3pPr>
            <a:lvl4pPr marL="1828800" marR="0" lvl="3"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4pPr>
            <a:lvl5pPr marL="2286000" marR="0" lvl="4"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5pPr>
            <a:lvl6pPr marL="2743200" marR="0" lvl="5"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6pPr>
            <a:lvl7pPr marL="3200400" marR="0" lvl="6"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7pPr>
            <a:lvl8pPr marL="3657600" marR="0" lvl="7"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8pPr>
            <a:lvl9pPr marL="4114800" marR="0" lvl="8"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939"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a16="http://schemas.microsoft.com/office/drawing/2014/main" id="{A5BE4E75-6261-B2A2-737D-7F131B836C7D}"/>
            </a:ext>
          </a:extLst>
        </p:cNvPr>
        <p:cNvGrpSpPr/>
        <p:nvPr/>
      </p:nvGrpSpPr>
      <p:grpSpPr>
        <a:xfrm>
          <a:off x="0" y="0"/>
          <a:ext cx="0" cy="0"/>
          <a:chOff x="0" y="0"/>
          <a:chExt cx="0" cy="0"/>
        </a:xfrm>
      </p:grpSpPr>
      <p:sp>
        <p:nvSpPr>
          <p:cNvPr id="20" name="Google Shape;20;p1">
            <a:extLst>
              <a:ext uri="{FF2B5EF4-FFF2-40B4-BE49-F238E27FC236}">
                <a16:creationId xmlns:a16="http://schemas.microsoft.com/office/drawing/2014/main" id="{462E59AF-FFCD-1B1B-812D-DAC7C97814EC}"/>
              </a:ext>
            </a:extLst>
          </p:cNvPr>
          <p:cNvSpPr/>
          <p:nvPr/>
        </p:nvSpPr>
        <p:spPr>
          <a:xfrm>
            <a:off x="221544" y="1378854"/>
            <a:ext cx="4344156" cy="4938245"/>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1" name="Google Shape;21;p1">
            <a:extLst>
              <a:ext uri="{FF2B5EF4-FFF2-40B4-BE49-F238E27FC236}">
                <a16:creationId xmlns:a16="http://schemas.microsoft.com/office/drawing/2014/main" id="{698A7A08-0970-64F3-C4A5-8863A082BF8C}"/>
              </a:ext>
            </a:extLst>
          </p:cNvPr>
          <p:cNvSpPr/>
          <p:nvPr/>
        </p:nvSpPr>
        <p:spPr>
          <a:xfrm>
            <a:off x="4587388" y="1378855"/>
            <a:ext cx="4344156" cy="4938244"/>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2" name="Google Shape;22;p1">
            <a:extLst>
              <a:ext uri="{FF2B5EF4-FFF2-40B4-BE49-F238E27FC236}">
                <a16:creationId xmlns:a16="http://schemas.microsoft.com/office/drawing/2014/main" id="{AA4C7434-21F0-D712-352F-A4E14E81D83C}"/>
              </a:ext>
            </a:extLst>
          </p:cNvPr>
          <p:cNvSpPr/>
          <p:nvPr/>
        </p:nvSpPr>
        <p:spPr>
          <a:xfrm>
            <a:off x="271516" y="1426481"/>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1</a:t>
            </a:r>
            <a:endParaRPr sz="1428" b="0" i="0" u="none" strike="noStrike" cap="none">
              <a:solidFill>
                <a:schemeClr val="lt1"/>
              </a:solidFill>
              <a:latin typeface="Arial"/>
              <a:ea typeface="Arial"/>
              <a:cs typeface="Arial"/>
              <a:sym typeface="Arial"/>
            </a:endParaRPr>
          </a:p>
        </p:txBody>
      </p:sp>
      <p:sp>
        <p:nvSpPr>
          <p:cNvPr id="23" name="Google Shape;23;p1">
            <a:extLst>
              <a:ext uri="{FF2B5EF4-FFF2-40B4-BE49-F238E27FC236}">
                <a16:creationId xmlns:a16="http://schemas.microsoft.com/office/drawing/2014/main" id="{E3FBDD2F-16DC-171D-0E09-269C47A771FD}"/>
              </a:ext>
            </a:extLst>
          </p:cNvPr>
          <p:cNvSpPr/>
          <p:nvPr/>
        </p:nvSpPr>
        <p:spPr>
          <a:xfrm>
            <a:off x="4659644" y="1539620"/>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24" name="Google Shape;24;p1">
            <a:extLst>
              <a:ext uri="{FF2B5EF4-FFF2-40B4-BE49-F238E27FC236}">
                <a16:creationId xmlns:a16="http://schemas.microsoft.com/office/drawing/2014/main" id="{86881342-6480-7DA3-C296-7B91985B50B7}"/>
              </a:ext>
            </a:extLst>
          </p:cNvPr>
          <p:cNvSpPr/>
          <p:nvPr/>
        </p:nvSpPr>
        <p:spPr>
          <a:xfrm>
            <a:off x="618923" y="143042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Problem context</a:t>
            </a:r>
            <a:endParaRPr sz="1400" b="0" i="0" u="none" strike="noStrike" cap="none" dirty="0">
              <a:solidFill>
                <a:srgbClr val="000000"/>
              </a:solidFill>
              <a:latin typeface="Arial"/>
              <a:ea typeface="Arial"/>
              <a:cs typeface="Arial"/>
              <a:sym typeface="Arial"/>
            </a:endParaRPr>
          </a:p>
        </p:txBody>
      </p:sp>
      <p:sp>
        <p:nvSpPr>
          <p:cNvPr id="25" name="Google Shape;25;p1">
            <a:extLst>
              <a:ext uri="{FF2B5EF4-FFF2-40B4-BE49-F238E27FC236}">
                <a16:creationId xmlns:a16="http://schemas.microsoft.com/office/drawing/2014/main" id="{1EE23794-2881-47C8-2885-FA9F3E335D50}"/>
              </a:ext>
            </a:extLst>
          </p:cNvPr>
          <p:cNvSpPr/>
          <p:nvPr/>
        </p:nvSpPr>
        <p:spPr>
          <a:xfrm>
            <a:off x="5020215" y="1539620"/>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Constraints within solution space</a:t>
            </a:r>
            <a:endParaRPr sz="1400" b="0" i="0" u="none" strike="noStrike" cap="none" dirty="0">
              <a:solidFill>
                <a:srgbClr val="000000"/>
              </a:solidFill>
              <a:latin typeface="Arial"/>
              <a:ea typeface="Arial"/>
              <a:cs typeface="Arial"/>
              <a:sym typeface="Arial"/>
            </a:endParaRPr>
          </a:p>
        </p:txBody>
      </p:sp>
      <p:sp>
        <p:nvSpPr>
          <p:cNvPr id="26" name="Google Shape;26;p1">
            <a:extLst>
              <a:ext uri="{FF2B5EF4-FFF2-40B4-BE49-F238E27FC236}">
                <a16:creationId xmlns:a16="http://schemas.microsoft.com/office/drawing/2014/main" id="{CEF8D1E6-9564-69BF-E891-03C5CD30DF83}"/>
              </a:ext>
            </a:extLst>
          </p:cNvPr>
          <p:cNvSpPr/>
          <p:nvPr/>
        </p:nvSpPr>
        <p:spPr>
          <a:xfrm>
            <a:off x="4668375" y="320709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27" name="Google Shape;27;p1">
            <a:extLst>
              <a:ext uri="{FF2B5EF4-FFF2-40B4-BE49-F238E27FC236}">
                <a16:creationId xmlns:a16="http://schemas.microsoft.com/office/drawing/2014/main" id="{26BFFD81-85CC-4A31-4D33-91C34D13C581}"/>
              </a:ext>
            </a:extLst>
          </p:cNvPr>
          <p:cNvSpPr/>
          <p:nvPr/>
        </p:nvSpPr>
        <p:spPr>
          <a:xfrm>
            <a:off x="255107" y="3430911"/>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lt1"/>
                </a:solidFill>
                <a:latin typeface="Arial"/>
                <a:ea typeface="Arial"/>
                <a:cs typeface="Arial"/>
                <a:sym typeface="Arial"/>
              </a:rPr>
              <a:t>2</a:t>
            </a:r>
            <a:endParaRPr sz="1400" b="0" i="0" u="none" strike="noStrike" cap="none" dirty="0">
              <a:solidFill>
                <a:srgbClr val="000000"/>
              </a:solidFill>
              <a:latin typeface="Arial"/>
              <a:ea typeface="Arial"/>
              <a:cs typeface="Arial"/>
              <a:sym typeface="Arial"/>
            </a:endParaRPr>
          </a:p>
        </p:txBody>
      </p:sp>
      <p:sp>
        <p:nvSpPr>
          <p:cNvPr id="28" name="Google Shape;28;p1">
            <a:extLst>
              <a:ext uri="{FF2B5EF4-FFF2-40B4-BE49-F238E27FC236}">
                <a16:creationId xmlns:a16="http://schemas.microsoft.com/office/drawing/2014/main" id="{2E49B3B7-32BB-3C14-2319-97545D1DA97B}"/>
              </a:ext>
            </a:extLst>
          </p:cNvPr>
          <p:cNvSpPr/>
          <p:nvPr/>
        </p:nvSpPr>
        <p:spPr>
          <a:xfrm>
            <a:off x="583916" y="3424494"/>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Criteria for a successful solution</a:t>
            </a:r>
            <a:endParaRPr sz="1400" b="0" i="0" u="none" strike="noStrike" cap="none" dirty="0">
              <a:solidFill>
                <a:srgbClr val="000000"/>
              </a:solidFill>
              <a:latin typeface="Arial"/>
              <a:ea typeface="Arial"/>
              <a:cs typeface="Arial"/>
              <a:sym typeface="Arial"/>
            </a:endParaRPr>
          </a:p>
        </p:txBody>
      </p:sp>
      <p:sp>
        <p:nvSpPr>
          <p:cNvPr id="29" name="Google Shape;29;p1">
            <a:extLst>
              <a:ext uri="{FF2B5EF4-FFF2-40B4-BE49-F238E27FC236}">
                <a16:creationId xmlns:a16="http://schemas.microsoft.com/office/drawing/2014/main" id="{5EB3FD98-78D5-628A-F4F6-C0E4C4EE5683}"/>
              </a:ext>
            </a:extLst>
          </p:cNvPr>
          <p:cNvSpPr/>
          <p:nvPr/>
        </p:nvSpPr>
        <p:spPr>
          <a:xfrm>
            <a:off x="5050634" y="323915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Stakeholders involved</a:t>
            </a:r>
            <a:endParaRPr sz="1400" b="0" i="0" u="none" strike="noStrike" cap="none" dirty="0">
              <a:solidFill>
                <a:srgbClr val="000000"/>
              </a:solidFill>
              <a:latin typeface="Arial"/>
              <a:ea typeface="Arial"/>
              <a:cs typeface="Arial"/>
              <a:sym typeface="Arial"/>
            </a:endParaRPr>
          </a:p>
        </p:txBody>
      </p:sp>
      <p:sp>
        <p:nvSpPr>
          <p:cNvPr id="30" name="Google Shape;30;p1">
            <a:extLst>
              <a:ext uri="{FF2B5EF4-FFF2-40B4-BE49-F238E27FC236}">
                <a16:creationId xmlns:a16="http://schemas.microsoft.com/office/drawing/2014/main" id="{6CB679B0-E814-BE59-1613-7CA450C1E20C}"/>
              </a:ext>
            </a:extLst>
          </p:cNvPr>
          <p:cNvSpPr/>
          <p:nvPr/>
        </p:nvSpPr>
        <p:spPr>
          <a:xfrm>
            <a:off x="232335" y="4586609"/>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31" name="Google Shape;31;p1">
            <a:extLst>
              <a:ext uri="{FF2B5EF4-FFF2-40B4-BE49-F238E27FC236}">
                <a16:creationId xmlns:a16="http://schemas.microsoft.com/office/drawing/2014/main" id="{E1495422-FBC1-A0DA-A89D-3DD609943ACF}"/>
              </a:ext>
            </a:extLst>
          </p:cNvPr>
          <p:cNvSpPr/>
          <p:nvPr/>
        </p:nvSpPr>
        <p:spPr>
          <a:xfrm>
            <a:off x="4689036" y="4586609"/>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lt1"/>
                </a:solidFill>
                <a:latin typeface="Arial"/>
                <a:ea typeface="Arial"/>
                <a:cs typeface="Arial"/>
                <a:sym typeface="Arial"/>
              </a:rPr>
              <a:t>6</a:t>
            </a:r>
            <a:endParaRPr sz="1400" b="0" i="0" u="none" strike="noStrike" cap="none" dirty="0">
              <a:solidFill>
                <a:srgbClr val="000000"/>
              </a:solidFill>
              <a:latin typeface="Arial"/>
              <a:ea typeface="Arial"/>
              <a:cs typeface="Arial"/>
              <a:sym typeface="Arial"/>
            </a:endParaRPr>
          </a:p>
        </p:txBody>
      </p:sp>
      <p:sp>
        <p:nvSpPr>
          <p:cNvPr id="32" name="Google Shape;32;p1">
            <a:extLst>
              <a:ext uri="{FF2B5EF4-FFF2-40B4-BE49-F238E27FC236}">
                <a16:creationId xmlns:a16="http://schemas.microsoft.com/office/drawing/2014/main" id="{3EF17DE2-AD03-C147-E7C7-3B6B11AD449E}"/>
              </a:ext>
            </a:extLst>
          </p:cNvPr>
          <p:cNvSpPr/>
          <p:nvPr/>
        </p:nvSpPr>
        <p:spPr>
          <a:xfrm>
            <a:off x="693521" y="4617600"/>
            <a:ext cx="3597454" cy="219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Scope of solution space </a:t>
            </a:r>
            <a:endParaRPr sz="1400" b="0" i="0" u="none" strike="noStrike" cap="none" dirty="0">
              <a:solidFill>
                <a:srgbClr val="000000"/>
              </a:solidFill>
              <a:latin typeface="Arial"/>
              <a:ea typeface="Arial"/>
              <a:cs typeface="Arial"/>
              <a:sym typeface="Arial"/>
            </a:endParaRPr>
          </a:p>
        </p:txBody>
      </p:sp>
      <p:sp>
        <p:nvSpPr>
          <p:cNvPr id="33" name="Google Shape;33;p1">
            <a:extLst>
              <a:ext uri="{FF2B5EF4-FFF2-40B4-BE49-F238E27FC236}">
                <a16:creationId xmlns:a16="http://schemas.microsoft.com/office/drawing/2014/main" id="{6286A4D6-B7AC-D60A-3898-32C1E50F8B79}"/>
              </a:ext>
            </a:extLst>
          </p:cNvPr>
          <p:cNvSpPr/>
          <p:nvPr/>
        </p:nvSpPr>
        <p:spPr>
          <a:xfrm>
            <a:off x="4998013" y="4610674"/>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dirty="0">
                <a:solidFill>
                  <a:schemeClr val="dk1"/>
                </a:solidFill>
              </a:rPr>
              <a:t>Data sources required</a:t>
            </a:r>
            <a:r>
              <a:rPr lang="en-AU" sz="1428" b="0" i="0" u="none" strike="noStrike" cap="none" dirty="0">
                <a:solidFill>
                  <a:schemeClr val="dk1"/>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
        <p:nvSpPr>
          <p:cNvPr id="34" name="Google Shape;34;p1">
            <a:extLst>
              <a:ext uri="{FF2B5EF4-FFF2-40B4-BE49-F238E27FC236}">
                <a16:creationId xmlns:a16="http://schemas.microsoft.com/office/drawing/2014/main" id="{A3E4BC70-9740-1600-1974-564818F9944A}"/>
              </a:ext>
            </a:extLst>
          </p:cNvPr>
          <p:cNvSpPr txBox="1"/>
          <p:nvPr/>
        </p:nvSpPr>
        <p:spPr>
          <a:xfrm>
            <a:off x="160586" y="1737164"/>
            <a:ext cx="4324418" cy="1604790"/>
          </a:xfrm>
          <a:prstGeom prst="rect">
            <a:avLst/>
          </a:prstGeom>
          <a:noFill/>
          <a:ln>
            <a:noFill/>
          </a:ln>
        </p:spPr>
        <p:txBody>
          <a:bodyPr spcFirstLastPara="1" wrap="square" lIns="91425" tIns="45700" rIns="91425" bIns="45700" anchor="t" anchorCtr="0">
            <a:noAutofit/>
          </a:bodyPr>
          <a:lstStyle/>
          <a:p>
            <a:pPr lvl="0"/>
            <a:r>
              <a:rPr lang="en-US" sz="900" dirty="0"/>
              <a:t>Nordic Sensing Co. is facing issues with its latest residential energy tracking device, the InSense sensor, which is experiencing a 15% manufacturing failure rate—significantly higher than the normal range of 1–2%. There is an urgent need to identify the root cause, which may stem from faulty components, poor manufacturing practices, or a specific supplier, as the sensor relies on seven parts sourced from 26 different manufacturers and bring the failure rate down to at least 5%. The objective is to trace the source of the failures and determine whether a particular manufacturing line should be shut down, especially since new sensors are being produced every 30 minutes. With large advance orders already in place, continued failures could severely impact order fulfillment. </a:t>
            </a:r>
            <a:endParaRPr sz="900" dirty="0"/>
          </a:p>
        </p:txBody>
      </p:sp>
      <p:sp>
        <p:nvSpPr>
          <p:cNvPr id="35" name="Google Shape;35;p1">
            <a:extLst>
              <a:ext uri="{FF2B5EF4-FFF2-40B4-BE49-F238E27FC236}">
                <a16:creationId xmlns:a16="http://schemas.microsoft.com/office/drawing/2014/main" id="{EEF04DDC-3E74-0104-A274-ADCEF114EE75}"/>
              </a:ext>
            </a:extLst>
          </p:cNvPr>
          <p:cNvSpPr txBox="1"/>
          <p:nvPr/>
        </p:nvSpPr>
        <p:spPr>
          <a:xfrm>
            <a:off x="212456" y="3719227"/>
            <a:ext cx="4078519" cy="766196"/>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Font typeface="Arial" panose="020B0604020202020204" pitchFamily="34" charset="0"/>
              <a:buChar char="•"/>
            </a:pPr>
            <a:r>
              <a:rPr lang="en-AU" sz="900" dirty="0"/>
              <a:t>Identify if the cause of the InSense Sensor failures and eliminate the root of the cause.</a:t>
            </a:r>
          </a:p>
          <a:p>
            <a:pPr marL="171450" marR="0" lvl="0" indent="-171450" algn="l" rtl="0">
              <a:lnSpc>
                <a:spcPct val="100000"/>
              </a:lnSpc>
              <a:spcBef>
                <a:spcPts val="0"/>
              </a:spcBef>
              <a:spcAft>
                <a:spcPts val="0"/>
              </a:spcAft>
              <a:buFont typeface="Arial" panose="020B0604020202020204" pitchFamily="34" charset="0"/>
              <a:buChar char="•"/>
            </a:pPr>
            <a:r>
              <a:rPr lang="en-US" sz="900" dirty="0"/>
              <a:t>Bring the failure rate from 15% to 5%.</a:t>
            </a:r>
          </a:p>
          <a:p>
            <a:pPr marL="171450" marR="0" lvl="0" indent="-171450" algn="l" rtl="0">
              <a:lnSpc>
                <a:spcPct val="100000"/>
              </a:lnSpc>
              <a:spcBef>
                <a:spcPts val="0"/>
              </a:spcBef>
              <a:spcAft>
                <a:spcPts val="0"/>
              </a:spcAft>
              <a:buFont typeface="Arial" panose="020B0604020202020204" pitchFamily="34" charset="0"/>
              <a:buChar char="•"/>
            </a:pPr>
            <a:r>
              <a:rPr lang="en-US" sz="900" dirty="0"/>
              <a:t>Advance orders for InSense Sensors are fulfilled without any impact.</a:t>
            </a:r>
            <a:endParaRPr sz="900" dirty="0"/>
          </a:p>
        </p:txBody>
      </p:sp>
      <p:sp>
        <p:nvSpPr>
          <p:cNvPr id="36" name="Google Shape;36;p1">
            <a:extLst>
              <a:ext uri="{FF2B5EF4-FFF2-40B4-BE49-F238E27FC236}">
                <a16:creationId xmlns:a16="http://schemas.microsoft.com/office/drawing/2014/main" id="{369953B4-55E3-045C-7B7E-4057B4836199}"/>
              </a:ext>
            </a:extLst>
          </p:cNvPr>
          <p:cNvSpPr txBox="1"/>
          <p:nvPr/>
        </p:nvSpPr>
        <p:spPr>
          <a:xfrm>
            <a:off x="347428" y="10209738"/>
            <a:ext cx="4324418" cy="1423178"/>
          </a:xfrm>
          <a:prstGeom prst="rect">
            <a:avLst/>
          </a:prstGeom>
          <a:noFill/>
          <a:ln>
            <a:noFill/>
          </a:ln>
        </p:spPr>
        <p:txBody>
          <a:bodyPr spcFirstLastPara="1" wrap="square" lIns="91425" tIns="45700" rIns="91425" bIns="45700" anchor="t" anchorCtr="0">
            <a:noAutofit/>
          </a:bodyPr>
          <a:lstStyle/>
          <a:p>
            <a:pPr marR="0" lvl="0" algn="l" rtl="0">
              <a:lnSpc>
                <a:spcPct val="100000"/>
              </a:lnSpc>
              <a:spcBef>
                <a:spcPts val="0"/>
              </a:spcBef>
              <a:spcAft>
                <a:spcPts val="0"/>
              </a:spcAft>
            </a:pPr>
            <a:endParaRPr sz="1400" b="0" i="0" u="none" strike="noStrike" cap="none" dirty="0">
              <a:solidFill>
                <a:srgbClr val="000000"/>
              </a:solidFill>
              <a:latin typeface="Arial"/>
              <a:ea typeface="Arial"/>
              <a:cs typeface="Arial"/>
              <a:sym typeface="Arial"/>
            </a:endParaRPr>
          </a:p>
        </p:txBody>
      </p:sp>
      <p:sp>
        <p:nvSpPr>
          <p:cNvPr id="37" name="Google Shape;37;p1">
            <a:extLst>
              <a:ext uri="{FF2B5EF4-FFF2-40B4-BE49-F238E27FC236}">
                <a16:creationId xmlns:a16="http://schemas.microsoft.com/office/drawing/2014/main" id="{A3C9CA4A-A512-DD1E-CB89-4C2185477173}"/>
              </a:ext>
            </a:extLst>
          </p:cNvPr>
          <p:cNvSpPr txBox="1"/>
          <p:nvPr/>
        </p:nvSpPr>
        <p:spPr>
          <a:xfrm>
            <a:off x="4546065" y="1816012"/>
            <a:ext cx="4324418" cy="1391083"/>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Font typeface="Arial" panose="020B0604020202020204" pitchFamily="34" charset="0"/>
              <a:buChar char="•"/>
            </a:pPr>
            <a:r>
              <a:rPr lang="en-US" sz="900" dirty="0"/>
              <a:t>Limited test data due to system limitation on exports. Currently it has only 20K rows of test data.</a:t>
            </a:r>
          </a:p>
          <a:p>
            <a:pPr marL="171450" indent="-171450" eaLnBrk="0" fontAlgn="base" hangingPunct="0">
              <a:buFont typeface="Arial" panose="020B0604020202020204" pitchFamily="34" charset="0"/>
              <a:buChar char="•"/>
            </a:pPr>
            <a:r>
              <a:rPr lang="en-US" altLang="en-US" sz="900" dirty="0"/>
              <a:t>The reliability of chi-square testing is uncertain, as it has not yet identified any failures, and there has been insufficient analysis of the testing procedures and underlying data.</a:t>
            </a:r>
          </a:p>
          <a:p>
            <a:pPr marL="171450" indent="-171450" eaLnBrk="0" fontAlgn="base" hangingPunct="0">
              <a:buFont typeface="Arial" panose="020B0604020202020204" pitchFamily="34" charset="0"/>
              <a:buChar char="•"/>
            </a:pPr>
            <a:r>
              <a:rPr lang="en-US" altLang="en-US" sz="900" dirty="0"/>
              <a:t>The absence of documented manufacturing standards for the 26 suppliers producing the seven parts may lead to delays in detecting and addressing non-compliance issues.</a:t>
            </a:r>
          </a:p>
          <a:p>
            <a:pPr marL="171450" marR="0" lvl="0" indent="-171450" algn="l" rtl="0">
              <a:lnSpc>
                <a:spcPct val="100000"/>
              </a:lnSpc>
              <a:spcBef>
                <a:spcPts val="0"/>
              </a:spcBef>
              <a:spcAft>
                <a:spcPts val="0"/>
              </a:spcAft>
              <a:buFont typeface="Arial" panose="020B0604020202020204" pitchFamily="34" charset="0"/>
              <a:buChar char="•"/>
            </a:pPr>
            <a:endParaRPr lang="en-US" sz="900" dirty="0"/>
          </a:p>
        </p:txBody>
      </p:sp>
      <p:sp>
        <p:nvSpPr>
          <p:cNvPr id="38" name="Google Shape;38;p1">
            <a:extLst>
              <a:ext uri="{FF2B5EF4-FFF2-40B4-BE49-F238E27FC236}">
                <a16:creationId xmlns:a16="http://schemas.microsoft.com/office/drawing/2014/main" id="{A920C16B-67D3-535B-1B6C-9027C7508944}"/>
              </a:ext>
            </a:extLst>
          </p:cNvPr>
          <p:cNvSpPr txBox="1"/>
          <p:nvPr/>
        </p:nvSpPr>
        <p:spPr>
          <a:xfrm>
            <a:off x="4590928" y="4896007"/>
            <a:ext cx="4324418" cy="1361069"/>
          </a:xfrm>
          <a:prstGeom prst="rect">
            <a:avLst/>
          </a:prstGeom>
          <a:noFill/>
          <a:ln>
            <a:noFill/>
          </a:ln>
        </p:spPr>
        <p:txBody>
          <a:bodyPr spcFirstLastPara="1" wrap="square" lIns="91425" tIns="45700" rIns="91425" bIns="45700" anchor="t" anchorCtr="0">
            <a:noAutofit/>
          </a:bodyPr>
          <a:lstStyle/>
          <a:p>
            <a:pPr marL="171450" lvl="0" indent="-171450">
              <a:buFont typeface="Arial" panose="020B0604020202020204" pitchFamily="34" charset="0"/>
              <a:buChar char="•"/>
            </a:pPr>
            <a:r>
              <a:rPr lang="en-US" sz="900" dirty="0"/>
              <a:t>Testing Strategy/ Testing Plan for Chi Squares testing</a:t>
            </a:r>
          </a:p>
          <a:p>
            <a:pPr marL="171450" lvl="0" indent="-171450">
              <a:buFont typeface="Arial" panose="020B0604020202020204" pitchFamily="34" charset="0"/>
              <a:buChar char="•"/>
            </a:pPr>
            <a:r>
              <a:rPr lang="en-US" sz="900" dirty="0"/>
              <a:t>Complete testing data for all seven InSense sensor components from 26 manufactures</a:t>
            </a:r>
          </a:p>
          <a:p>
            <a:pPr marL="171450" lvl="0" indent="-171450">
              <a:buFont typeface="Arial" panose="020B0604020202020204" pitchFamily="34" charset="0"/>
              <a:buChar char="•"/>
            </a:pPr>
            <a:r>
              <a:rPr lang="en-US" sz="900" dirty="0"/>
              <a:t>Prior testing data (before March pre-ship testing) to understand the efficacy of prior test results.</a:t>
            </a:r>
            <a:endParaRPr sz="900" i="0" u="none" strike="noStrike" cap="none" dirty="0">
              <a:solidFill>
                <a:srgbClr val="000000"/>
              </a:solidFill>
              <a:latin typeface="Arial"/>
              <a:ea typeface="Arial"/>
              <a:cs typeface="Arial"/>
              <a:sym typeface="Arial"/>
            </a:endParaRPr>
          </a:p>
        </p:txBody>
      </p:sp>
      <p:sp>
        <p:nvSpPr>
          <p:cNvPr id="39" name="Google Shape;39;p1">
            <a:extLst>
              <a:ext uri="{FF2B5EF4-FFF2-40B4-BE49-F238E27FC236}">
                <a16:creationId xmlns:a16="http://schemas.microsoft.com/office/drawing/2014/main" id="{AC9C91DB-5B3F-AD20-1528-E8826DD55750}"/>
              </a:ext>
            </a:extLst>
          </p:cNvPr>
          <p:cNvSpPr/>
          <p:nvPr/>
        </p:nvSpPr>
        <p:spPr>
          <a:xfrm>
            <a:off x="6633337" y="652441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0" name="Google Shape;40;p1">
            <a:extLst>
              <a:ext uri="{FF2B5EF4-FFF2-40B4-BE49-F238E27FC236}">
                <a16:creationId xmlns:a16="http://schemas.microsoft.com/office/drawing/2014/main" id="{60D30DC9-DCC5-BA69-0187-3E9412D5237F}"/>
              </a:ext>
            </a:extLst>
          </p:cNvPr>
          <p:cNvSpPr/>
          <p:nvPr/>
        </p:nvSpPr>
        <p:spPr>
          <a:xfrm>
            <a:off x="7028512" y="651371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D</a:t>
            </a:r>
            <a:endParaRPr sz="1400" b="0" i="0" u="none" strike="noStrike" cap="none">
              <a:solidFill>
                <a:srgbClr val="000000"/>
              </a:solidFill>
              <a:latin typeface="Arial"/>
              <a:ea typeface="Arial"/>
              <a:cs typeface="Arial"/>
              <a:sym typeface="Arial"/>
            </a:endParaRPr>
          </a:p>
        </p:txBody>
      </p:sp>
      <p:sp>
        <p:nvSpPr>
          <p:cNvPr id="41" name="Google Shape;41;p1">
            <a:extLst>
              <a:ext uri="{FF2B5EF4-FFF2-40B4-BE49-F238E27FC236}">
                <a16:creationId xmlns:a16="http://schemas.microsoft.com/office/drawing/2014/main" id="{E81F1966-86E9-F616-AD6C-BDFA293B52A4}"/>
              </a:ext>
            </a:extLst>
          </p:cNvPr>
          <p:cNvSpPr/>
          <p:nvPr/>
        </p:nvSpPr>
        <p:spPr>
          <a:xfrm>
            <a:off x="7452320"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E</a:t>
            </a:r>
            <a:endParaRPr sz="1400" b="0" i="0" u="none" strike="noStrike" cap="none">
              <a:solidFill>
                <a:srgbClr val="000000"/>
              </a:solidFill>
              <a:latin typeface="Arial"/>
              <a:ea typeface="Arial"/>
              <a:cs typeface="Arial"/>
              <a:sym typeface="Arial"/>
            </a:endParaRPr>
          </a:p>
        </p:txBody>
      </p:sp>
      <p:sp>
        <p:nvSpPr>
          <p:cNvPr id="42" name="Google Shape;42;p1">
            <a:extLst>
              <a:ext uri="{FF2B5EF4-FFF2-40B4-BE49-F238E27FC236}">
                <a16:creationId xmlns:a16="http://schemas.microsoft.com/office/drawing/2014/main" id="{EB4EFE8C-A09C-3FE9-C563-20C523604D71}"/>
              </a:ext>
            </a:extLst>
          </p:cNvPr>
          <p:cNvSpPr/>
          <p:nvPr/>
        </p:nvSpPr>
        <p:spPr>
          <a:xfrm>
            <a:off x="7846662" y="650808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I</a:t>
            </a:r>
            <a:endParaRPr sz="1400" b="0" i="0" u="none" strike="noStrike" cap="none">
              <a:solidFill>
                <a:srgbClr val="000000"/>
              </a:solidFill>
              <a:latin typeface="Arial"/>
              <a:ea typeface="Arial"/>
              <a:cs typeface="Arial"/>
              <a:sym typeface="Arial"/>
            </a:endParaRPr>
          </a:p>
        </p:txBody>
      </p:sp>
      <p:sp>
        <p:nvSpPr>
          <p:cNvPr id="43" name="Google Shape;43;p1">
            <a:extLst>
              <a:ext uri="{FF2B5EF4-FFF2-40B4-BE49-F238E27FC236}">
                <a16:creationId xmlns:a16="http://schemas.microsoft.com/office/drawing/2014/main" id="{968E94EA-7E13-19FB-2E49-1E147A6D9671}"/>
              </a:ext>
            </a:extLst>
          </p:cNvPr>
          <p:cNvSpPr/>
          <p:nvPr/>
        </p:nvSpPr>
        <p:spPr>
          <a:xfrm>
            <a:off x="8245692"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P</a:t>
            </a:r>
            <a:endParaRPr sz="1400" b="0" i="0" u="none" strike="noStrike" cap="none">
              <a:solidFill>
                <a:srgbClr val="000000"/>
              </a:solidFill>
              <a:latin typeface="Arial"/>
              <a:ea typeface="Arial"/>
              <a:cs typeface="Arial"/>
              <a:sym typeface="Arial"/>
            </a:endParaRPr>
          </a:p>
        </p:txBody>
      </p:sp>
      <p:sp>
        <p:nvSpPr>
          <p:cNvPr id="44" name="Google Shape;44;p1">
            <a:extLst>
              <a:ext uri="{FF2B5EF4-FFF2-40B4-BE49-F238E27FC236}">
                <a16:creationId xmlns:a16="http://schemas.microsoft.com/office/drawing/2014/main" id="{D6B08854-3CD7-4B55-83B0-7379B5077A02}"/>
              </a:ext>
            </a:extLst>
          </p:cNvPr>
          <p:cNvSpPr/>
          <p:nvPr/>
        </p:nvSpPr>
        <p:spPr>
          <a:xfrm>
            <a:off x="8099130" y="70712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5" name="Google Shape;45;p1">
            <a:extLst>
              <a:ext uri="{FF2B5EF4-FFF2-40B4-BE49-F238E27FC236}">
                <a16:creationId xmlns:a16="http://schemas.microsoft.com/office/drawing/2014/main" id="{C57334A8-F1B7-6CC6-4597-A55FD8E3E49E}"/>
              </a:ext>
            </a:extLst>
          </p:cNvPr>
          <p:cNvSpPr/>
          <p:nvPr/>
        </p:nvSpPr>
        <p:spPr>
          <a:xfrm>
            <a:off x="121750" y="116631"/>
            <a:ext cx="7724912" cy="1137079"/>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a:extLst>
              <a:ext uri="{FF2B5EF4-FFF2-40B4-BE49-F238E27FC236}">
                <a16:creationId xmlns:a16="http://schemas.microsoft.com/office/drawing/2014/main" id="{59565F08-C7E0-3EF8-0D4E-39035F193FAB}"/>
              </a:ext>
            </a:extLst>
          </p:cNvPr>
          <p:cNvSpPr txBox="1">
            <a:spLocks noGrp="1"/>
          </p:cNvSpPr>
          <p:nvPr>
            <p:ph type="title"/>
          </p:nvPr>
        </p:nvSpPr>
        <p:spPr>
          <a:xfrm>
            <a:off x="184140" y="189590"/>
            <a:ext cx="8793596" cy="30777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AU" sz="2000" dirty="0">
                <a:solidFill>
                  <a:srgbClr val="29748D"/>
                </a:solidFill>
                <a:latin typeface="Quattrocento Sans"/>
                <a:ea typeface="Quattrocento Sans"/>
                <a:cs typeface="Quattrocento Sans"/>
                <a:sym typeface="Quattrocento Sans"/>
              </a:rPr>
              <a:t>Problem Statement Worksheet (Hypothesis Formation)</a:t>
            </a:r>
            <a:endParaRPr dirty="0"/>
          </a:p>
        </p:txBody>
      </p:sp>
      <p:sp>
        <p:nvSpPr>
          <p:cNvPr id="47" name="Google Shape;47;p1">
            <a:extLst>
              <a:ext uri="{FF2B5EF4-FFF2-40B4-BE49-F238E27FC236}">
                <a16:creationId xmlns:a16="http://schemas.microsoft.com/office/drawing/2014/main" id="{EBC4D470-0AB6-C3DB-C0A6-1114498A1A15}"/>
              </a:ext>
            </a:extLst>
          </p:cNvPr>
          <p:cNvSpPr txBox="1"/>
          <p:nvPr/>
        </p:nvSpPr>
        <p:spPr>
          <a:xfrm>
            <a:off x="4607126" y="3547600"/>
            <a:ext cx="4324418" cy="1081065"/>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Font typeface="Arial" panose="020B0604020202020204" pitchFamily="34" charset="0"/>
              <a:buChar char="•"/>
            </a:pPr>
            <a:r>
              <a:rPr lang="en-AU" sz="900" b="0" i="0" u="none" strike="noStrike" cap="none" dirty="0">
                <a:solidFill>
                  <a:srgbClr val="000000"/>
                </a:solidFill>
                <a:latin typeface="Arial"/>
                <a:ea typeface="Arial"/>
                <a:cs typeface="Arial"/>
                <a:sym typeface="Arial"/>
              </a:rPr>
              <a:t>QA/QC Engineer – Jessica Jones</a:t>
            </a:r>
          </a:p>
          <a:p>
            <a:pPr marL="171450" marR="0" lvl="0" indent="-171450" algn="l" rtl="0">
              <a:lnSpc>
                <a:spcPct val="100000"/>
              </a:lnSpc>
              <a:spcBef>
                <a:spcPts val="0"/>
              </a:spcBef>
              <a:spcAft>
                <a:spcPts val="0"/>
              </a:spcAft>
              <a:buFont typeface="Arial" panose="020B0604020202020204" pitchFamily="34" charset="0"/>
              <a:buChar char="•"/>
            </a:pPr>
            <a:r>
              <a:rPr lang="en-AU" sz="900" dirty="0"/>
              <a:t>Head of Manufacturing – Gary Neurmont</a:t>
            </a:r>
          </a:p>
          <a:p>
            <a:pPr marL="171450" marR="0" lvl="0" indent="-171450" algn="l" rtl="0">
              <a:lnSpc>
                <a:spcPct val="100000"/>
              </a:lnSpc>
              <a:spcBef>
                <a:spcPts val="0"/>
              </a:spcBef>
              <a:spcAft>
                <a:spcPts val="0"/>
              </a:spcAft>
              <a:buFont typeface="Arial" panose="020B0604020202020204" pitchFamily="34" charset="0"/>
              <a:buChar char="•"/>
            </a:pPr>
            <a:r>
              <a:rPr lang="en-AU" sz="900" b="0" i="0" u="none" strike="noStrike" cap="none" dirty="0">
                <a:solidFill>
                  <a:srgbClr val="000000"/>
                </a:solidFill>
                <a:latin typeface="Arial"/>
                <a:ea typeface="Arial"/>
                <a:cs typeface="Arial"/>
                <a:sym typeface="Arial"/>
              </a:rPr>
              <a:t>Head Engineer– Shane Buchholz</a:t>
            </a:r>
          </a:p>
          <a:p>
            <a:pPr marL="171450" marR="0" lvl="0" indent="-171450" algn="l" rtl="0">
              <a:lnSpc>
                <a:spcPct val="100000"/>
              </a:lnSpc>
              <a:spcBef>
                <a:spcPts val="0"/>
              </a:spcBef>
              <a:spcAft>
                <a:spcPts val="0"/>
              </a:spcAft>
              <a:buFont typeface="Arial" panose="020B0604020202020204" pitchFamily="34" charset="0"/>
              <a:buChar char="•"/>
            </a:pPr>
            <a:r>
              <a:rPr lang="en-AU" sz="900" dirty="0"/>
              <a:t>Data Scientist - Jane Smith</a:t>
            </a:r>
          </a:p>
          <a:p>
            <a:pPr marL="171450" marR="0" lvl="0" indent="-171450" algn="l" rtl="0">
              <a:lnSpc>
                <a:spcPct val="100000"/>
              </a:lnSpc>
              <a:spcBef>
                <a:spcPts val="0"/>
              </a:spcBef>
              <a:spcAft>
                <a:spcPts val="0"/>
              </a:spcAft>
              <a:buFont typeface="Arial" panose="020B0604020202020204" pitchFamily="34" charset="0"/>
              <a:buChar char="•"/>
            </a:pPr>
            <a:r>
              <a:rPr lang="en-AU" sz="900" b="0" i="0" u="none" strike="noStrike" cap="none" dirty="0">
                <a:solidFill>
                  <a:srgbClr val="000000"/>
                </a:solidFill>
                <a:latin typeface="Arial"/>
                <a:ea typeface="Arial"/>
                <a:cs typeface="Arial"/>
                <a:sym typeface="Arial"/>
              </a:rPr>
              <a:t>Head of Data Science – Vince Maccano</a:t>
            </a:r>
          </a:p>
          <a:p>
            <a:pPr marL="171450" marR="0" lvl="0" indent="-171450" algn="l" rtl="0">
              <a:lnSpc>
                <a:spcPct val="100000"/>
              </a:lnSpc>
              <a:spcBef>
                <a:spcPts val="0"/>
              </a:spcBef>
              <a:spcAft>
                <a:spcPts val="0"/>
              </a:spcAft>
              <a:buFont typeface="Arial" panose="020B0604020202020204" pitchFamily="34" charset="0"/>
              <a:buChar char="•"/>
            </a:pPr>
            <a:r>
              <a:rPr lang="en-AU" sz="900" dirty="0"/>
              <a:t>InSense VP – Tony Abraham</a:t>
            </a:r>
            <a:endParaRPr sz="900" b="0" i="0" u="none" strike="noStrike" cap="none" dirty="0">
              <a:solidFill>
                <a:srgbClr val="000000"/>
              </a:solidFill>
              <a:latin typeface="Arial"/>
              <a:ea typeface="Arial"/>
              <a:cs typeface="Arial"/>
              <a:sym typeface="Arial"/>
            </a:endParaRPr>
          </a:p>
        </p:txBody>
      </p:sp>
      <p:sp>
        <p:nvSpPr>
          <p:cNvPr id="48" name="Google Shape;48;p1">
            <a:extLst>
              <a:ext uri="{FF2B5EF4-FFF2-40B4-BE49-F238E27FC236}">
                <a16:creationId xmlns:a16="http://schemas.microsoft.com/office/drawing/2014/main" id="{BC375DBE-5E66-D92C-0923-E727FADC8FA6}"/>
              </a:ext>
            </a:extLst>
          </p:cNvPr>
          <p:cNvSpPr txBox="1"/>
          <p:nvPr/>
        </p:nvSpPr>
        <p:spPr>
          <a:xfrm>
            <a:off x="184140" y="540901"/>
            <a:ext cx="7478532" cy="699322"/>
          </a:xfrm>
          <a:prstGeom prst="rect">
            <a:avLst/>
          </a:prstGeom>
          <a:noFill/>
          <a:ln>
            <a:noFill/>
          </a:ln>
        </p:spPr>
        <p:txBody>
          <a:bodyPr spcFirstLastPara="1" wrap="square" lIns="91425" tIns="45700" rIns="91425" bIns="45700" anchor="t" anchorCtr="0">
            <a:noAutofit/>
          </a:bodyPr>
          <a:lstStyle/>
          <a:p>
            <a:pPr lvl="0">
              <a:buSzPts val="1400"/>
            </a:pPr>
            <a:r>
              <a:rPr lang="en-US" sz="1000" dirty="0"/>
              <a:t>What actions should Nordic Sensing Co. take to address the 15% sensor failure rate caused by poor manufacturing and faulty components, identify and isolate the specific manufacturer(s) responsible, reduce the failure rate to below 5%, and determine which manufacturing line and or manufacturer should be shut down.</a:t>
            </a:r>
            <a:endParaRPr sz="1000" b="1" i="0" u="none" strike="noStrike" cap="none" dirty="0">
              <a:solidFill>
                <a:srgbClr val="000000"/>
              </a:solidFill>
              <a:latin typeface="Arial"/>
              <a:ea typeface="Arial"/>
              <a:cs typeface="Arial"/>
              <a:sym typeface="Arial"/>
            </a:endParaRPr>
          </a:p>
        </p:txBody>
      </p:sp>
      <p:sp>
        <p:nvSpPr>
          <p:cNvPr id="3" name="Rectangle 2">
            <a:extLst>
              <a:ext uri="{FF2B5EF4-FFF2-40B4-BE49-F238E27FC236}">
                <a16:creationId xmlns:a16="http://schemas.microsoft.com/office/drawing/2014/main" id="{5BE54E63-C795-93DF-770B-4E2271347818}"/>
              </a:ext>
            </a:extLst>
          </p:cNvPr>
          <p:cNvSpPr>
            <a:spLocks noChangeArrowheads="1"/>
          </p:cNvSpPr>
          <p:nvPr/>
        </p:nvSpPr>
        <p:spPr bwMode="auto">
          <a:xfrm>
            <a:off x="255106" y="4984593"/>
            <a:ext cx="42124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Collect complete pre-shipment testing data for all seven InSense sensor components from the 26 manufacturers.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Identify key data attributes and evaluate the existing testing process to uncover any gaps or </a:t>
            </a:r>
            <a:r>
              <a:rPr lang="en-US" altLang="en-US" sz="900" dirty="0">
                <a:solidFill>
                  <a:schemeClr val="tx1"/>
                </a:solidFill>
              </a:rPr>
              <a:t>inconsistencies</a:t>
            </a:r>
            <a:r>
              <a:rPr kumimoji="0" lang="en-US" altLang="en-US" sz="900" b="0" i="0" u="none" strike="noStrike" cap="none" normalizeH="0" baseline="0" dirty="0">
                <a:ln>
                  <a:noFill/>
                </a:ln>
                <a:solidFill>
                  <a:schemeClr val="tx1"/>
                </a:solidFill>
                <a:effectLst/>
                <a:latin typeface="Arial" panose="020B0604020202020204"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Use data analytics to segment the results by testing status and extract detailed insights related to the factors contributing to test failures.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Isolate potential root causes by organizing and comparing failure data for each component across different manufacturers.</a:t>
            </a:r>
          </a:p>
        </p:txBody>
      </p:sp>
    </p:spTree>
    <p:extLst>
      <p:ext uri="{BB962C8B-B14F-4D97-AF65-F5344CB8AC3E}">
        <p14:creationId xmlns:p14="http://schemas.microsoft.com/office/powerpoint/2010/main" val="2668347303"/>
      </p:ext>
    </p:extLst>
  </p:cSld>
  <p:clrMapOvr>
    <a:masterClrMapping/>
  </p:clrMapOvr>
</p:sld>
</file>

<file path=ppt/theme/theme1.xml><?xml version="1.0" encoding="utf-8"?>
<a:theme xmlns:a="http://schemas.openxmlformats.org/drawingml/2006/main" name="Synergy_CF_YNR002">
  <a:themeElements>
    <a:clrScheme name="Current">
      <a:dk1>
        <a:srgbClr val="002C46"/>
      </a:dk1>
      <a:lt1>
        <a:srgbClr val="FFFFFF"/>
      </a:lt1>
      <a:dk2>
        <a:srgbClr val="FBC14E"/>
      </a:dk2>
      <a:lt2>
        <a:srgbClr val="879C16"/>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1533</TotalTime>
  <Words>789</Words>
  <Application>Microsoft Office PowerPoint</Application>
  <PresentationFormat>On-screen Show (4:3)</PresentationFormat>
  <Paragraphs>55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Quattrocento Sans</vt:lpstr>
      <vt:lpstr>Synergy_CF_YNR002</vt:lpstr>
      <vt:lpstr>Problem Statement Worksheet (Hypothesis 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Christopher H</dc:creator>
  <cp:lastModifiedBy>Ritu Mb</cp:lastModifiedBy>
  <cp:revision>3</cp:revision>
  <dcterms:modified xsi:type="dcterms:W3CDTF">2025-10-08T17:20:09Z</dcterms:modified>
</cp:coreProperties>
</file>