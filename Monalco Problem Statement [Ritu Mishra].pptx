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7" r:id="rId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7" roundtripDataSignature="AMtx7mjdo7FECp685JsX7/4pIVeoAktjN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3A25F3-C081-4883-AB7D-81D6D5120333}" v="5" dt="2025-10-02T17:29:08.9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notesMaster" Target="notesMasters/notesMaster1.xml"/><Relationship Id="rId7" Type="http://customschemas.google.com/relationships/presentationmetadata" Target="metadata"/><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shra, Ritu, VBAVACO" userId="a6fc6115-4e9e-4fd4-a243-9de3bfa497a7" providerId="ADAL" clId="{C73A25F3-C081-4883-AB7D-81D6D5120333}"/>
    <pc:docChg chg="undo custSel addSld delSld modSld">
      <pc:chgData name="Mishra, Ritu, VBAVACO" userId="a6fc6115-4e9e-4fd4-a243-9de3bfa497a7" providerId="ADAL" clId="{C73A25F3-C081-4883-AB7D-81D6D5120333}" dt="2025-10-02T17:48:24.785" v="4171" actId="255"/>
      <pc:docMkLst>
        <pc:docMk/>
      </pc:docMkLst>
      <pc:sldChg chg="modSp del mod">
        <pc:chgData name="Mishra, Ritu, VBAVACO" userId="a6fc6115-4e9e-4fd4-a243-9de3bfa497a7" providerId="ADAL" clId="{C73A25F3-C081-4883-AB7D-81D6D5120333}" dt="2025-10-02T17:48:18.162" v="4170" actId="2696"/>
        <pc:sldMkLst>
          <pc:docMk/>
          <pc:sldMk cId="0" sldId="256"/>
        </pc:sldMkLst>
        <pc:spChg chg="mod">
          <ac:chgData name="Mishra, Ritu, VBAVACO" userId="a6fc6115-4e9e-4fd4-a243-9de3bfa497a7" providerId="ADAL" clId="{C73A25F3-C081-4883-AB7D-81D6D5120333}" dt="2025-10-02T16:29:06.426" v="517" actId="20577"/>
          <ac:spMkLst>
            <pc:docMk/>
            <pc:sldMk cId="0" sldId="256"/>
            <ac:spMk id="34" creationId="{00000000-0000-0000-0000-000000000000}"/>
          </ac:spMkLst>
        </pc:spChg>
      </pc:sldChg>
      <pc:sldChg chg="addSp delSp modSp add mod">
        <pc:chgData name="Mishra, Ritu, VBAVACO" userId="a6fc6115-4e9e-4fd4-a243-9de3bfa497a7" providerId="ADAL" clId="{C73A25F3-C081-4883-AB7D-81D6D5120333}" dt="2025-10-02T17:48:24.785" v="4171" actId="255"/>
        <pc:sldMkLst>
          <pc:docMk/>
          <pc:sldMk cId="2668347303" sldId="257"/>
        </pc:sldMkLst>
        <pc:spChg chg="mod">
          <ac:chgData name="Mishra, Ritu, VBAVACO" userId="a6fc6115-4e9e-4fd4-a243-9de3bfa497a7" providerId="ADAL" clId="{C73A25F3-C081-4883-AB7D-81D6D5120333}" dt="2025-10-02T17:29:53.214" v="2803" actId="14100"/>
          <ac:spMkLst>
            <pc:docMk/>
            <pc:sldMk cId="2668347303" sldId="257"/>
            <ac:spMk id="20" creationId="{462E59AF-FFCD-1B1B-812D-DAC7C97814EC}"/>
          </ac:spMkLst>
        </pc:spChg>
        <pc:spChg chg="mod">
          <ac:chgData name="Mishra, Ritu, VBAVACO" userId="a6fc6115-4e9e-4fd4-a243-9de3bfa497a7" providerId="ADAL" clId="{C73A25F3-C081-4883-AB7D-81D6D5120333}" dt="2025-10-02T17:28:06.179" v="2783" actId="14100"/>
          <ac:spMkLst>
            <pc:docMk/>
            <pc:sldMk cId="2668347303" sldId="257"/>
            <ac:spMk id="21" creationId="{698A7A08-0970-64F3-C4A5-8863A082BF8C}"/>
          </ac:spMkLst>
        </pc:spChg>
        <pc:spChg chg="mod">
          <ac:chgData name="Mishra, Ritu, VBAVACO" userId="a6fc6115-4e9e-4fd4-a243-9de3bfa497a7" providerId="ADAL" clId="{C73A25F3-C081-4883-AB7D-81D6D5120333}" dt="2025-10-02T17:27:14.228" v="2781" actId="1076"/>
          <ac:spMkLst>
            <pc:docMk/>
            <pc:sldMk cId="2668347303" sldId="257"/>
            <ac:spMk id="22" creationId="{AA4C7434-21F0-D712-352F-A4E14E81D83C}"/>
          </ac:spMkLst>
        </pc:spChg>
        <pc:spChg chg="add del mod">
          <ac:chgData name="Mishra, Ritu, VBAVACO" userId="a6fc6115-4e9e-4fd4-a243-9de3bfa497a7" providerId="ADAL" clId="{C73A25F3-C081-4883-AB7D-81D6D5120333}" dt="2025-10-02T17:28:15.492" v="2785" actId="1076"/>
          <ac:spMkLst>
            <pc:docMk/>
            <pc:sldMk cId="2668347303" sldId="257"/>
            <ac:spMk id="23" creationId="{E3FBDD2F-16DC-171D-0E09-269C47A771FD}"/>
          </ac:spMkLst>
        </pc:spChg>
        <pc:spChg chg="mod">
          <ac:chgData name="Mishra, Ritu, VBAVACO" userId="a6fc6115-4e9e-4fd4-a243-9de3bfa497a7" providerId="ADAL" clId="{C73A25F3-C081-4883-AB7D-81D6D5120333}" dt="2025-10-02T17:27:11.298" v="2780" actId="1076"/>
          <ac:spMkLst>
            <pc:docMk/>
            <pc:sldMk cId="2668347303" sldId="257"/>
            <ac:spMk id="24" creationId="{86881342-6480-7DA3-C296-7B91985B50B7}"/>
          </ac:spMkLst>
        </pc:spChg>
        <pc:spChg chg="add del mod">
          <ac:chgData name="Mishra, Ritu, VBAVACO" userId="a6fc6115-4e9e-4fd4-a243-9de3bfa497a7" providerId="ADAL" clId="{C73A25F3-C081-4883-AB7D-81D6D5120333}" dt="2025-10-02T17:28:11.868" v="2784" actId="1076"/>
          <ac:spMkLst>
            <pc:docMk/>
            <pc:sldMk cId="2668347303" sldId="257"/>
            <ac:spMk id="25" creationId="{1EE23794-2881-47C8-2885-FA9F3E335D50}"/>
          </ac:spMkLst>
        </pc:spChg>
        <pc:spChg chg="mod">
          <ac:chgData name="Mishra, Ritu, VBAVACO" userId="a6fc6115-4e9e-4fd4-a243-9de3bfa497a7" providerId="ADAL" clId="{C73A25F3-C081-4883-AB7D-81D6D5120333}" dt="2025-10-02T17:07:19.633" v="2063" actId="1076"/>
          <ac:spMkLst>
            <pc:docMk/>
            <pc:sldMk cId="2668347303" sldId="257"/>
            <ac:spMk id="27" creationId="{26BFFD81-85CC-4A31-4D33-91C34D13C581}"/>
          </ac:spMkLst>
        </pc:spChg>
        <pc:spChg chg="mod">
          <ac:chgData name="Mishra, Ritu, VBAVACO" userId="a6fc6115-4e9e-4fd4-a243-9de3bfa497a7" providerId="ADAL" clId="{C73A25F3-C081-4883-AB7D-81D6D5120333}" dt="2025-10-02T17:07:16.856" v="2062" actId="1076"/>
          <ac:spMkLst>
            <pc:docMk/>
            <pc:sldMk cId="2668347303" sldId="257"/>
            <ac:spMk id="28" creationId="{2E49B3B7-32BB-3C14-2319-97545D1DA97B}"/>
          </ac:spMkLst>
        </pc:spChg>
        <pc:spChg chg="mod">
          <ac:chgData name="Mishra, Ritu, VBAVACO" userId="a6fc6115-4e9e-4fd4-a243-9de3bfa497a7" providerId="ADAL" clId="{C73A25F3-C081-4883-AB7D-81D6D5120333}" dt="2025-10-02T16:57:04.174" v="1504" actId="1076"/>
          <ac:spMkLst>
            <pc:docMk/>
            <pc:sldMk cId="2668347303" sldId="257"/>
            <ac:spMk id="30" creationId="{6CB679B0-E814-BE59-1613-7CA450C1E20C}"/>
          </ac:spMkLst>
        </pc:spChg>
        <pc:spChg chg="mod">
          <ac:chgData name="Mishra, Ritu, VBAVACO" userId="a6fc6115-4e9e-4fd4-a243-9de3bfa497a7" providerId="ADAL" clId="{C73A25F3-C081-4883-AB7D-81D6D5120333}" dt="2025-10-02T17:19:32.567" v="2413" actId="1076"/>
          <ac:spMkLst>
            <pc:docMk/>
            <pc:sldMk cId="2668347303" sldId="257"/>
            <ac:spMk id="31" creationId="{E1495422-FBC1-A0DA-A89D-3DD609943ACF}"/>
          </ac:spMkLst>
        </pc:spChg>
        <pc:spChg chg="mod">
          <ac:chgData name="Mishra, Ritu, VBAVACO" userId="a6fc6115-4e9e-4fd4-a243-9de3bfa497a7" providerId="ADAL" clId="{C73A25F3-C081-4883-AB7D-81D6D5120333}" dt="2025-10-02T16:56:59.910" v="1503" actId="1076"/>
          <ac:spMkLst>
            <pc:docMk/>
            <pc:sldMk cId="2668347303" sldId="257"/>
            <ac:spMk id="32" creationId="{3EF17DE2-AD03-C147-E7C7-3B6B11AD449E}"/>
          </ac:spMkLst>
        </pc:spChg>
        <pc:spChg chg="mod">
          <ac:chgData name="Mishra, Ritu, VBAVACO" userId="a6fc6115-4e9e-4fd4-a243-9de3bfa497a7" providerId="ADAL" clId="{C73A25F3-C081-4883-AB7D-81D6D5120333}" dt="2025-10-02T17:19:27.851" v="2412" actId="1076"/>
          <ac:spMkLst>
            <pc:docMk/>
            <pc:sldMk cId="2668347303" sldId="257"/>
            <ac:spMk id="33" creationId="{6286A4D6-B7AC-D60A-3898-32C1E50F8B79}"/>
          </ac:spMkLst>
        </pc:spChg>
        <pc:spChg chg="mod">
          <ac:chgData name="Mishra, Ritu, VBAVACO" userId="a6fc6115-4e9e-4fd4-a243-9de3bfa497a7" providerId="ADAL" clId="{C73A25F3-C081-4883-AB7D-81D6D5120333}" dt="2025-10-02T17:29:25.098" v="2802" actId="20577"/>
          <ac:spMkLst>
            <pc:docMk/>
            <pc:sldMk cId="2668347303" sldId="257"/>
            <ac:spMk id="34" creationId="{A3E4BC70-9740-1600-1974-564818F9944A}"/>
          </ac:spMkLst>
        </pc:spChg>
        <pc:spChg chg="mod">
          <ac:chgData name="Mishra, Ritu, VBAVACO" userId="a6fc6115-4e9e-4fd4-a243-9de3bfa497a7" providerId="ADAL" clId="{C73A25F3-C081-4883-AB7D-81D6D5120333}" dt="2025-10-02T17:24:18.447" v="2595" actId="20577"/>
          <ac:spMkLst>
            <pc:docMk/>
            <pc:sldMk cId="2668347303" sldId="257"/>
            <ac:spMk id="35" creationId="{EEF04DDC-3E74-0104-A274-ADCEF114EE75}"/>
          </ac:spMkLst>
        </pc:spChg>
        <pc:spChg chg="mod">
          <ac:chgData name="Mishra, Ritu, VBAVACO" userId="a6fc6115-4e9e-4fd4-a243-9de3bfa497a7" providerId="ADAL" clId="{C73A25F3-C081-4883-AB7D-81D6D5120333}" dt="2025-10-02T17:33:03.240" v="3117" actId="6549"/>
          <ac:spMkLst>
            <pc:docMk/>
            <pc:sldMk cId="2668347303" sldId="257"/>
            <ac:spMk id="36" creationId="{369953B4-55E3-045C-7B7E-4057B4836199}"/>
          </ac:spMkLst>
        </pc:spChg>
        <pc:spChg chg="mod">
          <ac:chgData name="Mishra, Ritu, VBAVACO" userId="a6fc6115-4e9e-4fd4-a243-9de3bfa497a7" providerId="ADAL" clId="{C73A25F3-C081-4883-AB7D-81D6D5120333}" dt="2025-10-02T17:45:22.492" v="4069" actId="20577"/>
          <ac:spMkLst>
            <pc:docMk/>
            <pc:sldMk cId="2668347303" sldId="257"/>
            <ac:spMk id="37" creationId="{A3C9CA4A-A512-DD1E-CB89-4C2185477173}"/>
          </ac:spMkLst>
        </pc:spChg>
        <pc:spChg chg="mod">
          <ac:chgData name="Mishra, Ritu, VBAVACO" userId="a6fc6115-4e9e-4fd4-a243-9de3bfa497a7" providerId="ADAL" clId="{C73A25F3-C081-4883-AB7D-81D6D5120333}" dt="2025-10-02T17:48:07.561" v="4169" actId="20577"/>
          <ac:spMkLst>
            <pc:docMk/>
            <pc:sldMk cId="2668347303" sldId="257"/>
            <ac:spMk id="38" creationId="{A920C16B-67D3-535B-1B6C-9027C7508944}"/>
          </ac:spMkLst>
        </pc:spChg>
        <pc:spChg chg="mod">
          <ac:chgData name="Mishra, Ritu, VBAVACO" userId="a6fc6115-4e9e-4fd4-a243-9de3bfa497a7" providerId="ADAL" clId="{C73A25F3-C081-4883-AB7D-81D6D5120333}" dt="2025-10-02T17:47:13.735" v="4136" actId="12"/>
          <ac:spMkLst>
            <pc:docMk/>
            <pc:sldMk cId="2668347303" sldId="257"/>
            <ac:spMk id="47" creationId="{EBC4D470-0AB6-C3DB-C0A6-1114498A1A15}"/>
          </ac:spMkLst>
        </pc:spChg>
        <pc:spChg chg="mod">
          <ac:chgData name="Mishra, Ritu, VBAVACO" userId="a6fc6115-4e9e-4fd4-a243-9de3bfa497a7" providerId="ADAL" clId="{C73A25F3-C081-4883-AB7D-81D6D5120333}" dt="2025-10-02T17:48:24.785" v="4171" actId="255"/>
          <ac:spMkLst>
            <pc:docMk/>
            <pc:sldMk cId="2668347303" sldId="257"/>
            <ac:spMk id="48" creationId="{BC375DBE-5E66-D92C-0923-E727FADC8FA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a:extLst>
            <a:ext uri="{FF2B5EF4-FFF2-40B4-BE49-F238E27FC236}">
              <a16:creationId xmlns:a16="http://schemas.microsoft.com/office/drawing/2014/main" id="{373A1B56-589D-2843-2D24-34FF65068F08}"/>
            </a:ext>
          </a:extLst>
        </p:cNvPr>
        <p:cNvGrpSpPr/>
        <p:nvPr/>
      </p:nvGrpSpPr>
      <p:grpSpPr>
        <a:xfrm>
          <a:off x="0" y="0"/>
          <a:ext cx="0" cy="0"/>
          <a:chOff x="0" y="0"/>
          <a:chExt cx="0" cy="0"/>
        </a:xfrm>
      </p:grpSpPr>
      <p:sp>
        <p:nvSpPr>
          <p:cNvPr id="16" name="Google Shape;16;p1:notes">
            <a:extLst>
              <a:ext uri="{FF2B5EF4-FFF2-40B4-BE49-F238E27FC236}">
                <a16:creationId xmlns:a16="http://schemas.microsoft.com/office/drawing/2014/main" id="{62FA1C80-B45D-316B-5BA0-CE3017EEBC63}"/>
              </a:ext>
            </a:extLst>
          </p:cNvPr>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1</a:t>
            </a:fld>
            <a:endParaRPr sz="1800" b="0" i="0" u="none" strike="noStrike" cap="none">
              <a:solidFill>
                <a:srgbClr val="000000"/>
              </a:solidFill>
            </a:endParaRPr>
          </a:p>
        </p:txBody>
      </p:sp>
      <p:sp>
        <p:nvSpPr>
          <p:cNvPr id="17" name="Google Shape;17;p1:notes">
            <a:extLst>
              <a:ext uri="{FF2B5EF4-FFF2-40B4-BE49-F238E27FC236}">
                <a16:creationId xmlns:a16="http://schemas.microsoft.com/office/drawing/2014/main" id="{12BF31B1-2056-31EF-6D62-AF9C7EFDAE27}"/>
              </a:ext>
            </a:extLst>
          </p:cNvPr>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a:extLst>
              <a:ext uri="{FF2B5EF4-FFF2-40B4-BE49-F238E27FC236}">
                <a16:creationId xmlns:a16="http://schemas.microsoft.com/office/drawing/2014/main" id="{49EE2846-BDBB-2BB4-DA8D-E1871DC98A42}"/>
              </a:ext>
            </a:extLst>
          </p:cNvPr>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AU" b="1"/>
              <a:t>Hypothesis: </a:t>
            </a:r>
            <a:r>
              <a:rPr lang="en-AU" sz="1200" b="0" i="1" u="none" strike="noStrike" cap="none">
                <a:solidFill>
                  <a:srgbClr val="000000"/>
                </a:solidFill>
                <a:latin typeface="Arial"/>
                <a:ea typeface="Arial"/>
                <a:cs typeface="Arial"/>
                <a:sym typeface="Arial"/>
              </a:rPr>
              <a:t>Create a Hypothesis with an emphasis on SMART principles. </a:t>
            </a:r>
            <a:r>
              <a:rPr lang="en-AU" sz="1200" b="1" i="1" u="none" strike="noStrike" cap="none">
                <a:solidFill>
                  <a:srgbClr val="000000"/>
                </a:solidFill>
                <a:latin typeface="Arial"/>
                <a:ea typeface="Arial"/>
                <a:cs typeface="Arial"/>
                <a:sym typeface="Arial"/>
              </a:rPr>
              <a:t>(</a:t>
            </a:r>
            <a:r>
              <a:rPr lang="en-AU" sz="1200" b="1" i="1"/>
              <a:t>S – Specific, M – Measurable, A – Achievable, R – Realistic, T – Timebound). </a:t>
            </a:r>
            <a:r>
              <a:rPr lang="en-AU" sz="1200" b="0" i="0"/>
              <a:t>If you cannot do this, you </a:t>
            </a:r>
            <a:r>
              <a:rPr lang="en-AU" sz="1200" b="1" i="0"/>
              <a:t>do not</a:t>
            </a:r>
            <a:r>
              <a:rPr lang="en-AU" sz="1200" b="0" i="0"/>
              <a:t> have a good grasp on the business problem.</a:t>
            </a:r>
            <a:endParaRPr b="1"/>
          </a:p>
          <a:p>
            <a:pPr marL="0" lvl="0" indent="0" algn="l" rtl="0">
              <a:lnSpc>
                <a:spcPct val="100000"/>
              </a:lnSpc>
              <a:spcBef>
                <a:spcPts val="0"/>
              </a:spcBef>
              <a:spcAft>
                <a:spcPts val="0"/>
              </a:spcAft>
              <a:buSzPts val="1400"/>
              <a:buNone/>
            </a:pPr>
            <a:endParaRPr/>
          </a:p>
          <a:p>
            <a:pPr marL="0" marR="0" lvl="0" indent="0" algn="l" rtl="0">
              <a:lnSpc>
                <a:spcPct val="100000"/>
              </a:lnSpc>
              <a:spcBef>
                <a:spcPts val="0"/>
              </a:spcBef>
              <a:spcAft>
                <a:spcPts val="0"/>
              </a:spcAft>
              <a:buClr>
                <a:srgbClr val="000000"/>
              </a:buClr>
              <a:buSzPts val="1400"/>
              <a:buFont typeface="Arial"/>
              <a:buNone/>
            </a:pPr>
            <a:r>
              <a:rPr lang="en-AU" b="1"/>
              <a:t>Context: </a:t>
            </a:r>
            <a:r>
              <a:rPr lang="en-AU" sz="1200"/>
              <a:t>With context, we have </a:t>
            </a:r>
            <a:r>
              <a:rPr lang="en-AU" sz="1200" b="1" u="sng"/>
              <a:t>clearly identified the problem at hand </a:t>
            </a:r>
            <a:r>
              <a:rPr lang="en-AU" sz="1200"/>
              <a:t>and have elucidated on how our initiative may solve this problem, alongside the commercial implications this will have on the business. </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r>
              <a:rPr lang="en-AU" b="1"/>
              <a:t>Criteria for Success</a:t>
            </a:r>
            <a:r>
              <a:rPr lang="en-AU" b="0"/>
              <a:t>: Clearly defining the criteria for success ensures that the scope of your work is clearly defined and understood. Otherwise, if this isn’t defined – your work will never end which will result in mismatched expectations.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Scope of Solution Space: </a:t>
            </a:r>
            <a:r>
              <a:rPr lang="en-AU" b="0"/>
              <a:t>Scoping out the solution space ensures that the business initiative is SPECIFIC for a certain segment or area. This prevents solutions that have been developed being scaled and applied for all other business units that the solution may not be responsible or scalable for.</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Constraints within Solution Space: </a:t>
            </a:r>
            <a:r>
              <a:rPr lang="en-AU" b="0"/>
              <a:t>Looking forward, what are the foreseeable problems we are likely to encounter? Could this be stakeholder resistance? Could this be we don’t have access to the right data? </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Stakeholders to provide key insight: </a:t>
            </a:r>
            <a:r>
              <a:rPr lang="en-AU" b="0"/>
              <a:t>Who are the people I need to speak to, to get the answers I need for my data analysis?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What key data sources are required</a:t>
            </a:r>
            <a:r>
              <a:rPr lang="en-AU" b="0"/>
              <a:t>?</a:t>
            </a:r>
            <a:endParaRPr/>
          </a:p>
          <a:p>
            <a:pPr marL="0" lvl="0" indent="0" algn="l" rtl="0">
              <a:lnSpc>
                <a:spcPct val="100000"/>
              </a:lnSpc>
              <a:spcBef>
                <a:spcPts val="0"/>
              </a:spcBef>
              <a:spcAft>
                <a:spcPts val="0"/>
              </a:spcAft>
              <a:buSzPts val="1400"/>
              <a:buNone/>
            </a:pPr>
            <a:r>
              <a:rPr lang="en-AU" b="0"/>
              <a:t>Based off my discussions with the key stakeholders – can we clearly list out all the data sources we need so we can make a highly targeted request as opposed to a scatter-gun approach where we ask for a bit of everything?</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endParaRPr b="1"/>
          </a:p>
        </p:txBody>
      </p:sp>
    </p:spTree>
    <p:extLst>
      <p:ext uri="{BB962C8B-B14F-4D97-AF65-F5344CB8AC3E}">
        <p14:creationId xmlns:p14="http://schemas.microsoft.com/office/powerpoint/2010/main" val="787911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8298444" y="37255"/>
            <a:ext cx="670614" cy="1247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816"/>
              <a:buFont typeface="Arial"/>
              <a:buNone/>
            </a:pPr>
            <a:endParaRPr sz="816" b="0" i="0" u="none" strike="noStrike" cap="none">
              <a:solidFill>
                <a:srgbClr val="000000"/>
              </a:solidFill>
              <a:latin typeface="Arial"/>
              <a:ea typeface="Arial"/>
              <a:cs typeface="Arial"/>
              <a:sym typeface="Arial"/>
            </a:endParaRPr>
          </a:p>
        </p:txBody>
      </p:sp>
      <p:sp>
        <p:nvSpPr>
          <p:cNvPr id="11" name="Google Shape;11;p2"/>
          <p:cNvSpPr txBox="1">
            <a:spLocks noGrp="1"/>
          </p:cNvSpPr>
          <p:nvPr>
            <p:ph type="body" idx="1"/>
          </p:nvPr>
        </p:nvSpPr>
        <p:spPr>
          <a:xfrm>
            <a:off x="2343099" y="2570857"/>
            <a:ext cx="4389768" cy="1256112"/>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32" b="0" i="0" u="none" strike="noStrike" cap="none">
                <a:solidFill>
                  <a:schemeClr val="dk1"/>
                </a:solidFill>
                <a:latin typeface="Arial"/>
                <a:ea typeface="Arial"/>
                <a:cs typeface="Arial"/>
                <a:sym typeface="Arial"/>
              </a:defRPr>
            </a:lvl1pPr>
            <a:lvl2pPr marL="914400" marR="0" lvl="1" indent="-358140" algn="l" rtl="0">
              <a:lnSpc>
                <a:spcPct val="100000"/>
              </a:lnSpc>
              <a:spcBef>
                <a:spcPts val="0"/>
              </a:spcBef>
              <a:spcAft>
                <a:spcPts val="0"/>
              </a:spcAft>
              <a:buClr>
                <a:schemeClr val="dk2"/>
              </a:buClr>
              <a:buSzPts val="2040"/>
              <a:buFont typeface="Arial"/>
              <a:buChar char="▪"/>
              <a:defRPr sz="1632" b="0" i="0" u="none" strike="noStrike" cap="none">
                <a:solidFill>
                  <a:schemeClr val="dk1"/>
                </a:solidFill>
                <a:latin typeface="Arial"/>
                <a:ea typeface="Arial"/>
                <a:cs typeface="Arial"/>
                <a:sym typeface="Arial"/>
              </a:defRPr>
            </a:lvl2pPr>
            <a:lvl3pPr marL="1371600" marR="0" lvl="2"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3pPr>
            <a:lvl4pPr marL="1828800" marR="0" lvl="3"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4pPr>
            <a:lvl5pPr marL="2286000" marR="0" lvl="4"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5pPr>
            <a:lvl6pPr marL="2743200" marR="0" lvl="5"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6pPr>
            <a:lvl7pPr marL="3200400" marR="0" lvl="6"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7pPr>
            <a:lvl8pPr marL="3657600" marR="0" lvl="7"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8pPr>
            <a:lvl9pPr marL="4114800" marR="0" lvl="8"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939"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a:extLst>
            <a:ext uri="{FF2B5EF4-FFF2-40B4-BE49-F238E27FC236}">
              <a16:creationId xmlns:a16="http://schemas.microsoft.com/office/drawing/2014/main" id="{A5BE4E75-6261-B2A2-737D-7F131B836C7D}"/>
            </a:ext>
          </a:extLst>
        </p:cNvPr>
        <p:cNvGrpSpPr/>
        <p:nvPr/>
      </p:nvGrpSpPr>
      <p:grpSpPr>
        <a:xfrm>
          <a:off x="0" y="0"/>
          <a:ext cx="0" cy="0"/>
          <a:chOff x="0" y="0"/>
          <a:chExt cx="0" cy="0"/>
        </a:xfrm>
      </p:grpSpPr>
      <p:sp>
        <p:nvSpPr>
          <p:cNvPr id="20" name="Google Shape;20;p1">
            <a:extLst>
              <a:ext uri="{FF2B5EF4-FFF2-40B4-BE49-F238E27FC236}">
                <a16:creationId xmlns:a16="http://schemas.microsoft.com/office/drawing/2014/main" id="{462E59AF-FFCD-1B1B-812D-DAC7C97814EC}"/>
              </a:ext>
            </a:extLst>
          </p:cNvPr>
          <p:cNvSpPr/>
          <p:nvPr/>
        </p:nvSpPr>
        <p:spPr>
          <a:xfrm>
            <a:off x="137948" y="1378855"/>
            <a:ext cx="4344156" cy="4878221"/>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latin typeface="Arial"/>
              <a:ea typeface="Arial"/>
              <a:cs typeface="Arial"/>
              <a:sym typeface="Arial"/>
            </a:endParaRPr>
          </a:p>
        </p:txBody>
      </p:sp>
      <p:sp>
        <p:nvSpPr>
          <p:cNvPr id="21" name="Google Shape;21;p1">
            <a:extLst>
              <a:ext uri="{FF2B5EF4-FFF2-40B4-BE49-F238E27FC236}">
                <a16:creationId xmlns:a16="http://schemas.microsoft.com/office/drawing/2014/main" id="{698A7A08-0970-64F3-C4A5-8863A082BF8C}"/>
              </a:ext>
            </a:extLst>
          </p:cNvPr>
          <p:cNvSpPr/>
          <p:nvPr/>
        </p:nvSpPr>
        <p:spPr>
          <a:xfrm>
            <a:off x="4587388" y="1378855"/>
            <a:ext cx="4344156" cy="4878221"/>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latin typeface="Arial"/>
              <a:ea typeface="Arial"/>
              <a:cs typeface="Arial"/>
              <a:sym typeface="Arial"/>
            </a:endParaRPr>
          </a:p>
        </p:txBody>
      </p:sp>
      <p:sp>
        <p:nvSpPr>
          <p:cNvPr id="22" name="Google Shape;22;p1">
            <a:extLst>
              <a:ext uri="{FF2B5EF4-FFF2-40B4-BE49-F238E27FC236}">
                <a16:creationId xmlns:a16="http://schemas.microsoft.com/office/drawing/2014/main" id="{AA4C7434-21F0-D712-352F-A4E14E81D83C}"/>
              </a:ext>
            </a:extLst>
          </p:cNvPr>
          <p:cNvSpPr/>
          <p:nvPr/>
        </p:nvSpPr>
        <p:spPr>
          <a:xfrm>
            <a:off x="218935" y="1507565"/>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1</a:t>
            </a:r>
            <a:endParaRPr sz="1428" b="0" i="0" u="none" strike="noStrike" cap="none">
              <a:solidFill>
                <a:schemeClr val="lt1"/>
              </a:solidFill>
              <a:latin typeface="Arial"/>
              <a:ea typeface="Arial"/>
              <a:cs typeface="Arial"/>
              <a:sym typeface="Arial"/>
            </a:endParaRPr>
          </a:p>
        </p:txBody>
      </p:sp>
      <p:sp>
        <p:nvSpPr>
          <p:cNvPr id="23" name="Google Shape;23;p1">
            <a:extLst>
              <a:ext uri="{FF2B5EF4-FFF2-40B4-BE49-F238E27FC236}">
                <a16:creationId xmlns:a16="http://schemas.microsoft.com/office/drawing/2014/main" id="{E3FBDD2F-16DC-171D-0E09-269C47A771FD}"/>
              </a:ext>
            </a:extLst>
          </p:cNvPr>
          <p:cNvSpPr/>
          <p:nvPr/>
        </p:nvSpPr>
        <p:spPr>
          <a:xfrm>
            <a:off x="4659644" y="1539620"/>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24" name="Google Shape;24;p1">
            <a:extLst>
              <a:ext uri="{FF2B5EF4-FFF2-40B4-BE49-F238E27FC236}">
                <a16:creationId xmlns:a16="http://schemas.microsoft.com/office/drawing/2014/main" id="{86881342-6480-7DA3-C296-7B91985B50B7}"/>
              </a:ext>
            </a:extLst>
          </p:cNvPr>
          <p:cNvSpPr/>
          <p:nvPr/>
        </p:nvSpPr>
        <p:spPr>
          <a:xfrm>
            <a:off x="612534" y="1507565"/>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Context</a:t>
            </a:r>
            <a:endParaRPr sz="1400" b="0" i="0" u="none" strike="noStrike" cap="none" dirty="0">
              <a:solidFill>
                <a:srgbClr val="000000"/>
              </a:solidFill>
              <a:latin typeface="Arial"/>
              <a:ea typeface="Arial"/>
              <a:cs typeface="Arial"/>
              <a:sym typeface="Arial"/>
            </a:endParaRPr>
          </a:p>
        </p:txBody>
      </p:sp>
      <p:sp>
        <p:nvSpPr>
          <p:cNvPr id="25" name="Google Shape;25;p1">
            <a:extLst>
              <a:ext uri="{FF2B5EF4-FFF2-40B4-BE49-F238E27FC236}">
                <a16:creationId xmlns:a16="http://schemas.microsoft.com/office/drawing/2014/main" id="{1EE23794-2881-47C8-2885-FA9F3E335D50}"/>
              </a:ext>
            </a:extLst>
          </p:cNvPr>
          <p:cNvSpPr/>
          <p:nvPr/>
        </p:nvSpPr>
        <p:spPr>
          <a:xfrm>
            <a:off x="5020215" y="1539620"/>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Constraints within solution space</a:t>
            </a:r>
            <a:endParaRPr sz="1400" b="0" i="0" u="none" strike="noStrike" cap="none" dirty="0">
              <a:solidFill>
                <a:srgbClr val="000000"/>
              </a:solidFill>
              <a:latin typeface="Arial"/>
              <a:ea typeface="Arial"/>
              <a:cs typeface="Arial"/>
              <a:sym typeface="Arial"/>
            </a:endParaRPr>
          </a:p>
        </p:txBody>
      </p:sp>
      <p:sp>
        <p:nvSpPr>
          <p:cNvPr id="26" name="Google Shape;26;p1">
            <a:extLst>
              <a:ext uri="{FF2B5EF4-FFF2-40B4-BE49-F238E27FC236}">
                <a16:creationId xmlns:a16="http://schemas.microsoft.com/office/drawing/2014/main" id="{CEF8D1E6-9564-69BF-E891-03C5CD30DF83}"/>
              </a:ext>
            </a:extLst>
          </p:cNvPr>
          <p:cNvSpPr/>
          <p:nvPr/>
        </p:nvSpPr>
        <p:spPr>
          <a:xfrm>
            <a:off x="4668375" y="3207096"/>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27" name="Google Shape;27;p1">
            <a:extLst>
              <a:ext uri="{FF2B5EF4-FFF2-40B4-BE49-F238E27FC236}">
                <a16:creationId xmlns:a16="http://schemas.microsoft.com/office/drawing/2014/main" id="{26BFFD81-85CC-4A31-4D33-91C34D13C581}"/>
              </a:ext>
            </a:extLst>
          </p:cNvPr>
          <p:cNvSpPr/>
          <p:nvPr/>
        </p:nvSpPr>
        <p:spPr>
          <a:xfrm>
            <a:off x="207597" y="3274670"/>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28" name="Google Shape;28;p1">
            <a:extLst>
              <a:ext uri="{FF2B5EF4-FFF2-40B4-BE49-F238E27FC236}">
                <a16:creationId xmlns:a16="http://schemas.microsoft.com/office/drawing/2014/main" id="{2E49B3B7-32BB-3C14-2319-97545D1DA97B}"/>
              </a:ext>
            </a:extLst>
          </p:cNvPr>
          <p:cNvSpPr/>
          <p:nvPr/>
        </p:nvSpPr>
        <p:spPr>
          <a:xfrm>
            <a:off x="583378" y="3284645"/>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Criteria for success</a:t>
            </a:r>
            <a:endParaRPr sz="1400" b="0" i="0" u="none" strike="noStrike" cap="none" dirty="0">
              <a:solidFill>
                <a:srgbClr val="000000"/>
              </a:solidFill>
              <a:latin typeface="Arial"/>
              <a:ea typeface="Arial"/>
              <a:cs typeface="Arial"/>
              <a:sym typeface="Arial"/>
            </a:endParaRPr>
          </a:p>
        </p:txBody>
      </p:sp>
      <p:sp>
        <p:nvSpPr>
          <p:cNvPr id="29" name="Google Shape;29;p1">
            <a:extLst>
              <a:ext uri="{FF2B5EF4-FFF2-40B4-BE49-F238E27FC236}">
                <a16:creationId xmlns:a16="http://schemas.microsoft.com/office/drawing/2014/main" id="{5EB3FD98-78D5-628A-F4F6-C0E4C4EE5683}"/>
              </a:ext>
            </a:extLst>
          </p:cNvPr>
          <p:cNvSpPr/>
          <p:nvPr/>
        </p:nvSpPr>
        <p:spPr>
          <a:xfrm>
            <a:off x="5050634" y="3239152"/>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Stakeholders to provide key insight</a:t>
            </a:r>
            <a:endParaRPr sz="1400" b="0" i="0" u="none" strike="noStrike" cap="none">
              <a:solidFill>
                <a:srgbClr val="000000"/>
              </a:solidFill>
              <a:latin typeface="Arial"/>
              <a:ea typeface="Arial"/>
              <a:cs typeface="Arial"/>
              <a:sym typeface="Arial"/>
            </a:endParaRPr>
          </a:p>
        </p:txBody>
      </p:sp>
      <p:sp>
        <p:nvSpPr>
          <p:cNvPr id="30" name="Google Shape;30;p1">
            <a:extLst>
              <a:ext uri="{FF2B5EF4-FFF2-40B4-BE49-F238E27FC236}">
                <a16:creationId xmlns:a16="http://schemas.microsoft.com/office/drawing/2014/main" id="{6CB679B0-E814-BE59-1613-7CA450C1E20C}"/>
              </a:ext>
            </a:extLst>
          </p:cNvPr>
          <p:cNvSpPr/>
          <p:nvPr/>
        </p:nvSpPr>
        <p:spPr>
          <a:xfrm>
            <a:off x="232335" y="4586609"/>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31" name="Google Shape;31;p1">
            <a:extLst>
              <a:ext uri="{FF2B5EF4-FFF2-40B4-BE49-F238E27FC236}">
                <a16:creationId xmlns:a16="http://schemas.microsoft.com/office/drawing/2014/main" id="{E1495422-FBC1-A0DA-A89D-3DD609943ACF}"/>
              </a:ext>
            </a:extLst>
          </p:cNvPr>
          <p:cNvSpPr/>
          <p:nvPr/>
        </p:nvSpPr>
        <p:spPr>
          <a:xfrm>
            <a:off x="4689036" y="4586609"/>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lt1"/>
                </a:solidFill>
                <a:latin typeface="Arial"/>
                <a:ea typeface="Arial"/>
                <a:cs typeface="Arial"/>
                <a:sym typeface="Arial"/>
              </a:rPr>
              <a:t>6</a:t>
            </a:r>
            <a:endParaRPr sz="1400" b="0" i="0" u="none" strike="noStrike" cap="none" dirty="0">
              <a:solidFill>
                <a:srgbClr val="000000"/>
              </a:solidFill>
              <a:latin typeface="Arial"/>
              <a:ea typeface="Arial"/>
              <a:cs typeface="Arial"/>
              <a:sym typeface="Arial"/>
            </a:endParaRPr>
          </a:p>
        </p:txBody>
      </p:sp>
      <p:sp>
        <p:nvSpPr>
          <p:cNvPr id="32" name="Google Shape;32;p1">
            <a:extLst>
              <a:ext uri="{FF2B5EF4-FFF2-40B4-BE49-F238E27FC236}">
                <a16:creationId xmlns:a16="http://schemas.microsoft.com/office/drawing/2014/main" id="{3EF17DE2-AD03-C147-E7C7-3B6B11AD449E}"/>
              </a:ext>
            </a:extLst>
          </p:cNvPr>
          <p:cNvSpPr/>
          <p:nvPr/>
        </p:nvSpPr>
        <p:spPr>
          <a:xfrm>
            <a:off x="693521" y="4617600"/>
            <a:ext cx="3597454" cy="2197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Scope of solution space </a:t>
            </a:r>
            <a:endParaRPr sz="1400" b="0" i="0" u="none" strike="noStrike" cap="none" dirty="0">
              <a:solidFill>
                <a:srgbClr val="000000"/>
              </a:solidFill>
              <a:latin typeface="Arial"/>
              <a:ea typeface="Arial"/>
              <a:cs typeface="Arial"/>
              <a:sym typeface="Arial"/>
            </a:endParaRPr>
          </a:p>
        </p:txBody>
      </p:sp>
      <p:sp>
        <p:nvSpPr>
          <p:cNvPr id="33" name="Google Shape;33;p1">
            <a:extLst>
              <a:ext uri="{FF2B5EF4-FFF2-40B4-BE49-F238E27FC236}">
                <a16:creationId xmlns:a16="http://schemas.microsoft.com/office/drawing/2014/main" id="{6286A4D6-B7AC-D60A-3898-32C1E50F8B79}"/>
              </a:ext>
            </a:extLst>
          </p:cNvPr>
          <p:cNvSpPr/>
          <p:nvPr/>
        </p:nvSpPr>
        <p:spPr>
          <a:xfrm>
            <a:off x="4998013" y="4610674"/>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dirty="0">
                <a:solidFill>
                  <a:schemeClr val="dk1"/>
                </a:solidFill>
              </a:rPr>
              <a:t>Key</a:t>
            </a:r>
            <a:r>
              <a:rPr lang="en-AU" sz="1428" b="0" i="0" u="none" strike="noStrike" cap="none" dirty="0">
                <a:solidFill>
                  <a:schemeClr val="dk1"/>
                </a:solidFill>
                <a:latin typeface="Arial"/>
                <a:ea typeface="Arial"/>
                <a:cs typeface="Arial"/>
                <a:sym typeface="Arial"/>
              </a:rPr>
              <a:t> data sources </a:t>
            </a:r>
            <a:endParaRPr sz="1400" b="0" i="0" u="none" strike="noStrike" cap="none" dirty="0">
              <a:solidFill>
                <a:srgbClr val="000000"/>
              </a:solidFill>
              <a:latin typeface="Arial"/>
              <a:ea typeface="Arial"/>
              <a:cs typeface="Arial"/>
              <a:sym typeface="Arial"/>
            </a:endParaRPr>
          </a:p>
        </p:txBody>
      </p:sp>
      <p:sp>
        <p:nvSpPr>
          <p:cNvPr id="34" name="Google Shape;34;p1">
            <a:extLst>
              <a:ext uri="{FF2B5EF4-FFF2-40B4-BE49-F238E27FC236}">
                <a16:creationId xmlns:a16="http://schemas.microsoft.com/office/drawing/2014/main" id="{A3E4BC70-9740-1600-1974-564818F9944A}"/>
              </a:ext>
            </a:extLst>
          </p:cNvPr>
          <p:cNvSpPr txBox="1"/>
          <p:nvPr/>
        </p:nvSpPr>
        <p:spPr>
          <a:xfrm>
            <a:off x="143108" y="1795880"/>
            <a:ext cx="4324418" cy="1520823"/>
          </a:xfrm>
          <a:prstGeom prst="rect">
            <a:avLst/>
          </a:prstGeom>
          <a:noFill/>
          <a:ln>
            <a:noFill/>
          </a:ln>
        </p:spPr>
        <p:txBody>
          <a:bodyPr spcFirstLastPara="1" wrap="square" lIns="91425" tIns="45700" rIns="91425" bIns="45700" anchor="t" anchorCtr="0">
            <a:noAutofit/>
          </a:bodyPr>
          <a:lstStyle/>
          <a:p>
            <a:pPr lvl="0"/>
            <a:r>
              <a:rPr lang="en-AU" sz="900" dirty="0"/>
              <a:t>Monalco Mining, an Iron Ore company, invested heavily in operating technologies to meet market demand for Iron ore. Increased market supply of Iron Ore overtook demand resulting in prices shifting downward. From $110 per ton of Iron Ore, price at which Monalco purchased Iron Ore at, the prices shifted to an avg $55/ton. Reliability engineering team resisting on cutting down maintenance events which otherwise could add 20% worth of yearly costs saving per one maintenance. Monalco's management team is now focused on streamlining maintenance expenses, incorporate spending discipline and reduce operating costs to limit the impact on business profitability due to these shifting market conditions. </a:t>
            </a:r>
            <a:endParaRPr sz="900" dirty="0"/>
          </a:p>
        </p:txBody>
      </p:sp>
      <p:sp>
        <p:nvSpPr>
          <p:cNvPr id="35" name="Google Shape;35;p1">
            <a:extLst>
              <a:ext uri="{FF2B5EF4-FFF2-40B4-BE49-F238E27FC236}">
                <a16:creationId xmlns:a16="http://schemas.microsoft.com/office/drawing/2014/main" id="{EEF04DDC-3E74-0104-A274-ADCEF114EE75}"/>
              </a:ext>
            </a:extLst>
          </p:cNvPr>
          <p:cNvSpPr txBox="1"/>
          <p:nvPr/>
        </p:nvSpPr>
        <p:spPr>
          <a:xfrm>
            <a:off x="143108" y="3559864"/>
            <a:ext cx="4324418" cy="1068801"/>
          </a:xfrm>
          <a:prstGeom prst="rect">
            <a:avLst/>
          </a:prstGeom>
          <a:noFill/>
          <a:ln>
            <a:noFill/>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Font typeface="Arial" panose="020B0604020202020204" pitchFamily="34" charset="0"/>
              <a:buChar char="•"/>
            </a:pPr>
            <a:r>
              <a:rPr lang="en-AU" sz="900" dirty="0"/>
              <a:t>Maintenance cost reductions and keeping operating costs until they break even at operating costs of $50/ton.</a:t>
            </a:r>
          </a:p>
          <a:p>
            <a:pPr marR="0" lvl="0" algn="l" rtl="0">
              <a:lnSpc>
                <a:spcPct val="100000"/>
              </a:lnSpc>
              <a:spcBef>
                <a:spcPts val="0"/>
              </a:spcBef>
              <a:spcAft>
                <a:spcPts val="0"/>
              </a:spcAft>
            </a:pPr>
            <a:endParaRPr lang="en-AU" sz="900" dirty="0"/>
          </a:p>
          <a:p>
            <a:pPr marL="171450" marR="0" lvl="0" indent="-171450" algn="l" rtl="0">
              <a:lnSpc>
                <a:spcPct val="100000"/>
              </a:lnSpc>
              <a:spcBef>
                <a:spcPts val="0"/>
              </a:spcBef>
              <a:spcAft>
                <a:spcPts val="0"/>
              </a:spcAft>
              <a:buFont typeface="Arial" panose="020B0604020202020204" pitchFamily="34" charset="0"/>
              <a:buChar char="•"/>
            </a:pPr>
            <a:r>
              <a:rPr lang="en-US" sz="900" dirty="0"/>
              <a:t>Reduce 20% worth of costs over the year w.r.t ore crusher maintenance to create a buffer to weather future downward shifts in pricing.</a:t>
            </a:r>
            <a:endParaRPr sz="900" dirty="0"/>
          </a:p>
        </p:txBody>
      </p:sp>
      <p:sp>
        <p:nvSpPr>
          <p:cNvPr id="36" name="Google Shape;36;p1">
            <a:extLst>
              <a:ext uri="{FF2B5EF4-FFF2-40B4-BE49-F238E27FC236}">
                <a16:creationId xmlns:a16="http://schemas.microsoft.com/office/drawing/2014/main" id="{369953B4-55E3-045C-7B7E-4057B4836199}"/>
              </a:ext>
            </a:extLst>
          </p:cNvPr>
          <p:cNvSpPr txBox="1"/>
          <p:nvPr/>
        </p:nvSpPr>
        <p:spPr>
          <a:xfrm>
            <a:off x="186842" y="4833898"/>
            <a:ext cx="4324418" cy="1423178"/>
          </a:xfrm>
          <a:prstGeom prst="rect">
            <a:avLst/>
          </a:prstGeom>
          <a:noFill/>
          <a:ln>
            <a:noFill/>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Font typeface="Arial" panose="020B0604020202020204" pitchFamily="34" charset="0"/>
              <a:buChar char="•"/>
            </a:pPr>
            <a:r>
              <a:rPr lang="en-AU" sz="900" dirty="0"/>
              <a:t>Cut operations costs to sustainable level to handle $50/ton breakeven costs.</a:t>
            </a:r>
          </a:p>
          <a:p>
            <a:pPr marR="0" lvl="0" algn="l" rtl="0">
              <a:lnSpc>
                <a:spcPct val="100000"/>
              </a:lnSpc>
              <a:spcBef>
                <a:spcPts val="0"/>
              </a:spcBef>
              <a:spcAft>
                <a:spcPts val="0"/>
              </a:spcAft>
            </a:pPr>
            <a:endParaRPr lang="en-AU" sz="900" dirty="0"/>
          </a:p>
          <a:p>
            <a:pPr marL="171450" marR="0" lvl="0" indent="-171450" algn="l" rtl="0">
              <a:lnSpc>
                <a:spcPct val="100000"/>
              </a:lnSpc>
              <a:spcBef>
                <a:spcPts val="0"/>
              </a:spcBef>
              <a:spcAft>
                <a:spcPts val="0"/>
              </a:spcAft>
              <a:buFont typeface="Arial" panose="020B0604020202020204" pitchFamily="34" charset="0"/>
              <a:buChar char="•"/>
            </a:pPr>
            <a:r>
              <a:rPr lang="en-AU" sz="900" dirty="0"/>
              <a:t>Scale back on annual maintenance expenditure of $30M for ore crushers.</a:t>
            </a:r>
          </a:p>
          <a:p>
            <a:pPr marR="0" lvl="0" algn="l" rtl="0">
              <a:lnSpc>
                <a:spcPct val="100000"/>
              </a:lnSpc>
              <a:spcBef>
                <a:spcPts val="0"/>
              </a:spcBef>
              <a:spcAft>
                <a:spcPts val="0"/>
              </a:spcAft>
            </a:pPr>
            <a:endParaRPr lang="en-AU" sz="900" dirty="0"/>
          </a:p>
          <a:p>
            <a:pPr marL="171450" marR="0" lvl="0" indent="-171450" algn="l" rtl="0">
              <a:lnSpc>
                <a:spcPct val="100000"/>
              </a:lnSpc>
              <a:spcBef>
                <a:spcPts val="0"/>
              </a:spcBef>
              <a:spcAft>
                <a:spcPts val="0"/>
              </a:spcAft>
              <a:buFont typeface="Arial" panose="020B0604020202020204" pitchFamily="34" charset="0"/>
              <a:buChar char="•"/>
            </a:pPr>
            <a:r>
              <a:rPr lang="en-AU" sz="900" dirty="0"/>
              <a:t>Address factors which are resulting in resistance from Reliability Engineering team on cutting down maintenance events.</a:t>
            </a:r>
          </a:p>
          <a:p>
            <a:pPr marR="0" lvl="0" algn="l" rtl="0">
              <a:lnSpc>
                <a:spcPct val="100000"/>
              </a:lnSpc>
              <a:spcBef>
                <a:spcPts val="0"/>
              </a:spcBef>
              <a:spcAft>
                <a:spcPts val="0"/>
              </a:spcAft>
            </a:pPr>
            <a:endParaRPr lang="en-AU" sz="900" dirty="0"/>
          </a:p>
          <a:p>
            <a:pPr marL="171450" marR="0" lvl="0" indent="-171450" algn="l" rtl="0">
              <a:lnSpc>
                <a:spcPct val="100000"/>
              </a:lnSpc>
              <a:spcBef>
                <a:spcPts val="0"/>
              </a:spcBef>
              <a:spcAft>
                <a:spcPts val="0"/>
              </a:spcAft>
              <a:buFont typeface="Arial" panose="020B0604020202020204" pitchFamily="34" charset="0"/>
              <a:buChar char="•"/>
            </a:pPr>
            <a:r>
              <a:rPr lang="en-AU" sz="900" b="0" i="0" u="none" strike="noStrike" cap="none" dirty="0">
                <a:solidFill>
                  <a:srgbClr val="000000"/>
                </a:solidFill>
                <a:latin typeface="Arial"/>
                <a:ea typeface="Arial"/>
                <a:cs typeface="Arial"/>
                <a:sym typeface="Arial"/>
              </a:rPr>
              <a:t>Create maintenance schedule and identify operating performance metrics for each ore crusher to proactively identify performance degradation issues and take steps in remediating those causes.</a:t>
            </a:r>
            <a:endParaRPr sz="1400" b="0" i="0" u="none" strike="noStrike" cap="none" dirty="0">
              <a:solidFill>
                <a:srgbClr val="000000"/>
              </a:solidFill>
              <a:latin typeface="Arial"/>
              <a:ea typeface="Arial"/>
              <a:cs typeface="Arial"/>
              <a:sym typeface="Arial"/>
            </a:endParaRPr>
          </a:p>
        </p:txBody>
      </p:sp>
      <p:sp>
        <p:nvSpPr>
          <p:cNvPr id="37" name="Google Shape;37;p1">
            <a:extLst>
              <a:ext uri="{FF2B5EF4-FFF2-40B4-BE49-F238E27FC236}">
                <a16:creationId xmlns:a16="http://schemas.microsoft.com/office/drawing/2014/main" id="{A3C9CA4A-A512-DD1E-CB89-4C2185477173}"/>
              </a:ext>
            </a:extLst>
          </p:cNvPr>
          <p:cNvSpPr txBox="1"/>
          <p:nvPr/>
        </p:nvSpPr>
        <p:spPr>
          <a:xfrm>
            <a:off x="4546065" y="1816012"/>
            <a:ext cx="4324418" cy="139108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AU" sz="800" b="1" i="0" u="none" strike="noStrike" cap="none" dirty="0">
                <a:solidFill>
                  <a:srgbClr val="000000"/>
                </a:solidFill>
                <a:latin typeface="Arial"/>
                <a:ea typeface="Arial"/>
                <a:cs typeface="Arial"/>
                <a:sym typeface="Arial"/>
              </a:rPr>
              <a:t>&lt;What constraints exist </a:t>
            </a:r>
            <a:r>
              <a:rPr lang="en-AU" sz="800" b="1" dirty="0"/>
              <a:t>that may</a:t>
            </a:r>
            <a:r>
              <a:rPr lang="en-AU" sz="800" b="1" i="0" u="none" strike="noStrike" cap="none" dirty="0">
                <a:solidFill>
                  <a:srgbClr val="000000"/>
                </a:solidFill>
                <a:latin typeface="Arial"/>
                <a:ea typeface="Arial"/>
                <a:cs typeface="Arial"/>
                <a:sym typeface="Arial"/>
              </a:rPr>
              <a:t> prevent this business initiative from succeeding?&gt;</a:t>
            </a:r>
          </a:p>
          <a:p>
            <a:pPr marL="171450" marR="0" lvl="0" indent="-171450" algn="l" rtl="0">
              <a:lnSpc>
                <a:spcPct val="100000"/>
              </a:lnSpc>
              <a:spcBef>
                <a:spcPts val="0"/>
              </a:spcBef>
              <a:spcAft>
                <a:spcPts val="0"/>
              </a:spcAft>
              <a:buFont typeface="Arial" panose="020B0604020202020204" pitchFamily="34" charset="0"/>
              <a:buChar char="•"/>
            </a:pPr>
            <a:r>
              <a:rPr lang="en-AU" sz="900" dirty="0"/>
              <a:t>The exact acceptable/sustainable levels of operations is not defined by management, also the timeframe within which they need to act is missing.</a:t>
            </a:r>
          </a:p>
          <a:p>
            <a:pPr marL="171450" marR="0" lvl="0" indent="-171450" algn="l" rtl="0">
              <a:lnSpc>
                <a:spcPct val="100000"/>
              </a:lnSpc>
              <a:spcBef>
                <a:spcPts val="0"/>
              </a:spcBef>
              <a:spcAft>
                <a:spcPts val="0"/>
              </a:spcAft>
              <a:buFont typeface="Arial" panose="020B0604020202020204" pitchFamily="34" charset="0"/>
              <a:buChar char="•"/>
            </a:pPr>
            <a:r>
              <a:rPr lang="en-AU" sz="900" dirty="0"/>
              <a:t>The breakeven costs noted is $50/ton but the goal stated is to cut costs to a sustainable level to handle lower prices may put more wear on operations.</a:t>
            </a:r>
          </a:p>
          <a:p>
            <a:pPr marL="171450" marR="0" lvl="0" indent="-171450" algn="l" rtl="0">
              <a:lnSpc>
                <a:spcPct val="100000"/>
              </a:lnSpc>
              <a:spcBef>
                <a:spcPts val="0"/>
              </a:spcBef>
              <a:spcAft>
                <a:spcPts val="0"/>
              </a:spcAft>
              <a:buFont typeface="Arial" panose="020B0604020202020204" pitchFamily="34" charset="0"/>
              <a:buChar char="•"/>
            </a:pPr>
            <a:r>
              <a:rPr lang="en-US" sz="900" dirty="0"/>
              <a:t>Resistance from reliability engineering team on cutting down maintenance events, may prevent savings that are projected in 20% savings costs.</a:t>
            </a:r>
          </a:p>
          <a:p>
            <a:pPr marL="171450" marR="0" lvl="0" indent="-171450" algn="l" rtl="0">
              <a:lnSpc>
                <a:spcPct val="100000"/>
              </a:lnSpc>
              <a:spcBef>
                <a:spcPts val="0"/>
              </a:spcBef>
              <a:spcAft>
                <a:spcPts val="0"/>
              </a:spcAft>
              <a:buFont typeface="Arial" panose="020B0604020202020204" pitchFamily="34" charset="0"/>
              <a:buChar char="•"/>
            </a:pPr>
            <a:r>
              <a:rPr lang="en-US" sz="900" dirty="0"/>
              <a:t>Limitation on cutting maintenance event from recommended OEM limit of one maintenance event at every 50,000 tons of iron ore processed.</a:t>
            </a:r>
            <a:endParaRPr sz="900" dirty="0"/>
          </a:p>
        </p:txBody>
      </p:sp>
      <p:sp>
        <p:nvSpPr>
          <p:cNvPr id="38" name="Google Shape;38;p1">
            <a:extLst>
              <a:ext uri="{FF2B5EF4-FFF2-40B4-BE49-F238E27FC236}">
                <a16:creationId xmlns:a16="http://schemas.microsoft.com/office/drawing/2014/main" id="{A920C16B-67D3-535B-1B6C-9027C7508944}"/>
              </a:ext>
            </a:extLst>
          </p:cNvPr>
          <p:cNvSpPr txBox="1"/>
          <p:nvPr/>
        </p:nvSpPr>
        <p:spPr>
          <a:xfrm>
            <a:off x="4590928" y="4896007"/>
            <a:ext cx="4324418" cy="1361069"/>
          </a:xfrm>
          <a:prstGeom prst="rect">
            <a:avLst/>
          </a:prstGeom>
          <a:noFill/>
          <a:ln>
            <a:noFill/>
          </a:ln>
        </p:spPr>
        <p:txBody>
          <a:bodyPr spcFirstLastPara="1" wrap="square" lIns="91425" tIns="45700" rIns="91425" bIns="45700" anchor="t" anchorCtr="0">
            <a:noAutofit/>
          </a:bodyPr>
          <a:lstStyle/>
          <a:p>
            <a:pPr marL="171450" lvl="0" indent="-171450">
              <a:buFont typeface="Arial" panose="020B0604020202020204" pitchFamily="34" charset="0"/>
              <a:buChar char="•"/>
            </a:pPr>
            <a:r>
              <a:rPr lang="en-US" sz="900" dirty="0"/>
              <a:t>Data Historian for Iron Ore. </a:t>
            </a:r>
          </a:p>
          <a:p>
            <a:pPr marL="171450" lvl="0" indent="-171450">
              <a:buFont typeface="Arial" panose="020B0604020202020204" pitchFamily="34" charset="0"/>
              <a:buChar char="•"/>
            </a:pPr>
            <a:r>
              <a:rPr lang="en-US" sz="900" dirty="0"/>
              <a:t>Ellipse - system for old work orders .</a:t>
            </a:r>
          </a:p>
          <a:p>
            <a:pPr marL="171450" lvl="0" indent="-171450">
              <a:buFont typeface="Arial" panose="020B0604020202020204" pitchFamily="34" charset="0"/>
              <a:buChar char="•"/>
            </a:pPr>
            <a:r>
              <a:rPr lang="en-US" sz="900" dirty="0"/>
              <a:t>SAP - This is the most up-to-date information source on our equipment logs and work order.</a:t>
            </a:r>
          </a:p>
          <a:p>
            <a:pPr marL="171450" lvl="0" indent="-171450">
              <a:buFont typeface="Arial" panose="020B0604020202020204" pitchFamily="34" charset="0"/>
              <a:buChar char="•"/>
            </a:pPr>
            <a:r>
              <a:rPr lang="en-US" sz="900" dirty="0"/>
              <a:t>T3000 DCS – a system that sends raw streaming data on various attributes of the ore crushed to Data Historian.</a:t>
            </a:r>
          </a:p>
          <a:p>
            <a:pPr marL="171450" lvl="0" indent="-171450">
              <a:buFont typeface="Arial" panose="020B0604020202020204" pitchFamily="34" charset="0"/>
              <a:buChar char="•"/>
            </a:pPr>
            <a:r>
              <a:rPr lang="en-US" sz="900" dirty="0"/>
              <a:t>Ore Crusher System - a high-level process map outlining how the Ore Crusher System works for individual ore crusher models.</a:t>
            </a:r>
            <a:endParaRPr sz="900" i="0" u="none" strike="noStrike" cap="none" dirty="0">
              <a:solidFill>
                <a:srgbClr val="000000"/>
              </a:solidFill>
              <a:latin typeface="Arial"/>
              <a:ea typeface="Arial"/>
              <a:cs typeface="Arial"/>
              <a:sym typeface="Arial"/>
            </a:endParaRPr>
          </a:p>
        </p:txBody>
      </p:sp>
      <p:sp>
        <p:nvSpPr>
          <p:cNvPr id="39" name="Google Shape;39;p1">
            <a:extLst>
              <a:ext uri="{FF2B5EF4-FFF2-40B4-BE49-F238E27FC236}">
                <a16:creationId xmlns:a16="http://schemas.microsoft.com/office/drawing/2014/main" id="{AC9C91DB-5B3F-AD20-1528-E8826DD55750}"/>
              </a:ext>
            </a:extLst>
          </p:cNvPr>
          <p:cNvSpPr/>
          <p:nvPr/>
        </p:nvSpPr>
        <p:spPr>
          <a:xfrm>
            <a:off x="6633337" y="6524418"/>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H</a:t>
            </a:r>
            <a:endParaRPr sz="1400" b="0" i="0" u="none" strike="noStrike" cap="none">
              <a:solidFill>
                <a:srgbClr val="000000"/>
              </a:solidFill>
              <a:latin typeface="Arial"/>
              <a:ea typeface="Arial"/>
              <a:cs typeface="Arial"/>
              <a:sym typeface="Arial"/>
            </a:endParaRPr>
          </a:p>
        </p:txBody>
      </p:sp>
      <p:sp>
        <p:nvSpPr>
          <p:cNvPr id="40" name="Google Shape;40;p1">
            <a:extLst>
              <a:ext uri="{FF2B5EF4-FFF2-40B4-BE49-F238E27FC236}">
                <a16:creationId xmlns:a16="http://schemas.microsoft.com/office/drawing/2014/main" id="{60D30DC9-DCC5-BA69-0187-3E9412D5237F}"/>
              </a:ext>
            </a:extLst>
          </p:cNvPr>
          <p:cNvSpPr/>
          <p:nvPr/>
        </p:nvSpPr>
        <p:spPr>
          <a:xfrm>
            <a:off x="7028512" y="651371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D</a:t>
            </a:r>
            <a:endParaRPr sz="1400" b="0" i="0" u="none" strike="noStrike" cap="none">
              <a:solidFill>
                <a:srgbClr val="000000"/>
              </a:solidFill>
              <a:latin typeface="Arial"/>
              <a:ea typeface="Arial"/>
              <a:cs typeface="Arial"/>
              <a:sym typeface="Arial"/>
            </a:endParaRPr>
          </a:p>
        </p:txBody>
      </p:sp>
      <p:sp>
        <p:nvSpPr>
          <p:cNvPr id="41" name="Google Shape;41;p1">
            <a:extLst>
              <a:ext uri="{FF2B5EF4-FFF2-40B4-BE49-F238E27FC236}">
                <a16:creationId xmlns:a16="http://schemas.microsoft.com/office/drawing/2014/main" id="{E81F1966-86E9-F616-AD6C-BDFA293B52A4}"/>
              </a:ext>
            </a:extLst>
          </p:cNvPr>
          <p:cNvSpPr/>
          <p:nvPr/>
        </p:nvSpPr>
        <p:spPr>
          <a:xfrm>
            <a:off x="7452320"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E</a:t>
            </a:r>
            <a:endParaRPr sz="1400" b="0" i="0" u="none" strike="noStrike" cap="none">
              <a:solidFill>
                <a:srgbClr val="000000"/>
              </a:solidFill>
              <a:latin typeface="Arial"/>
              <a:ea typeface="Arial"/>
              <a:cs typeface="Arial"/>
              <a:sym typeface="Arial"/>
            </a:endParaRPr>
          </a:p>
        </p:txBody>
      </p:sp>
      <p:sp>
        <p:nvSpPr>
          <p:cNvPr id="42" name="Google Shape;42;p1">
            <a:extLst>
              <a:ext uri="{FF2B5EF4-FFF2-40B4-BE49-F238E27FC236}">
                <a16:creationId xmlns:a16="http://schemas.microsoft.com/office/drawing/2014/main" id="{EB4EFE8C-A09C-3FE9-C563-20C523604D71}"/>
              </a:ext>
            </a:extLst>
          </p:cNvPr>
          <p:cNvSpPr/>
          <p:nvPr/>
        </p:nvSpPr>
        <p:spPr>
          <a:xfrm>
            <a:off x="7846662" y="650808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I</a:t>
            </a:r>
            <a:endParaRPr sz="1400" b="0" i="0" u="none" strike="noStrike" cap="none">
              <a:solidFill>
                <a:srgbClr val="000000"/>
              </a:solidFill>
              <a:latin typeface="Arial"/>
              <a:ea typeface="Arial"/>
              <a:cs typeface="Arial"/>
              <a:sym typeface="Arial"/>
            </a:endParaRPr>
          </a:p>
        </p:txBody>
      </p:sp>
      <p:sp>
        <p:nvSpPr>
          <p:cNvPr id="43" name="Google Shape;43;p1">
            <a:extLst>
              <a:ext uri="{FF2B5EF4-FFF2-40B4-BE49-F238E27FC236}">
                <a16:creationId xmlns:a16="http://schemas.microsoft.com/office/drawing/2014/main" id="{968E94EA-7E13-19FB-2E49-1E147A6D9671}"/>
              </a:ext>
            </a:extLst>
          </p:cNvPr>
          <p:cNvSpPr/>
          <p:nvPr/>
        </p:nvSpPr>
        <p:spPr>
          <a:xfrm>
            <a:off x="8245692"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P</a:t>
            </a:r>
            <a:endParaRPr sz="1400" b="0" i="0" u="none" strike="noStrike" cap="none">
              <a:solidFill>
                <a:srgbClr val="000000"/>
              </a:solidFill>
              <a:latin typeface="Arial"/>
              <a:ea typeface="Arial"/>
              <a:cs typeface="Arial"/>
              <a:sym typeface="Arial"/>
            </a:endParaRPr>
          </a:p>
        </p:txBody>
      </p:sp>
      <p:sp>
        <p:nvSpPr>
          <p:cNvPr id="44" name="Google Shape;44;p1">
            <a:extLst>
              <a:ext uri="{FF2B5EF4-FFF2-40B4-BE49-F238E27FC236}">
                <a16:creationId xmlns:a16="http://schemas.microsoft.com/office/drawing/2014/main" id="{D6B08854-3CD7-4B55-83B0-7379B5077A02}"/>
              </a:ext>
            </a:extLst>
          </p:cNvPr>
          <p:cNvSpPr/>
          <p:nvPr/>
        </p:nvSpPr>
        <p:spPr>
          <a:xfrm>
            <a:off x="8099130" y="707128"/>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H</a:t>
            </a:r>
            <a:endParaRPr sz="1400" b="0" i="0" u="none" strike="noStrike" cap="none">
              <a:solidFill>
                <a:srgbClr val="000000"/>
              </a:solidFill>
              <a:latin typeface="Arial"/>
              <a:ea typeface="Arial"/>
              <a:cs typeface="Arial"/>
              <a:sym typeface="Arial"/>
            </a:endParaRPr>
          </a:p>
        </p:txBody>
      </p:sp>
      <p:sp>
        <p:nvSpPr>
          <p:cNvPr id="45" name="Google Shape;45;p1">
            <a:extLst>
              <a:ext uri="{FF2B5EF4-FFF2-40B4-BE49-F238E27FC236}">
                <a16:creationId xmlns:a16="http://schemas.microsoft.com/office/drawing/2014/main" id="{C57334A8-F1B7-6CC6-4597-A55FD8E3E49E}"/>
              </a:ext>
            </a:extLst>
          </p:cNvPr>
          <p:cNvSpPr/>
          <p:nvPr/>
        </p:nvSpPr>
        <p:spPr>
          <a:xfrm>
            <a:off x="121750" y="116631"/>
            <a:ext cx="7724912" cy="1137079"/>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
            <a:extLst>
              <a:ext uri="{FF2B5EF4-FFF2-40B4-BE49-F238E27FC236}">
                <a16:creationId xmlns:a16="http://schemas.microsoft.com/office/drawing/2014/main" id="{59565F08-C7E0-3EF8-0D4E-39035F193FAB}"/>
              </a:ext>
            </a:extLst>
          </p:cNvPr>
          <p:cNvSpPr txBox="1">
            <a:spLocks noGrp="1"/>
          </p:cNvSpPr>
          <p:nvPr>
            <p:ph type="title"/>
          </p:nvPr>
        </p:nvSpPr>
        <p:spPr>
          <a:xfrm>
            <a:off x="184140" y="189590"/>
            <a:ext cx="8793596" cy="307777"/>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en-AU" sz="2000">
                <a:solidFill>
                  <a:srgbClr val="29748D"/>
                </a:solidFill>
                <a:latin typeface="Quattrocento Sans"/>
                <a:ea typeface="Quattrocento Sans"/>
                <a:cs typeface="Quattrocento Sans"/>
                <a:sym typeface="Quattrocento Sans"/>
              </a:rPr>
              <a:t>Problem Statement Worksheet (Hypothesis Formation)</a:t>
            </a:r>
            <a:endParaRPr/>
          </a:p>
        </p:txBody>
      </p:sp>
      <p:sp>
        <p:nvSpPr>
          <p:cNvPr id="47" name="Google Shape;47;p1">
            <a:extLst>
              <a:ext uri="{FF2B5EF4-FFF2-40B4-BE49-F238E27FC236}">
                <a16:creationId xmlns:a16="http://schemas.microsoft.com/office/drawing/2014/main" id="{EBC4D470-0AB6-C3DB-C0A6-1114498A1A15}"/>
              </a:ext>
            </a:extLst>
          </p:cNvPr>
          <p:cNvSpPr txBox="1"/>
          <p:nvPr/>
        </p:nvSpPr>
        <p:spPr>
          <a:xfrm>
            <a:off x="4607126" y="3547600"/>
            <a:ext cx="4324418" cy="1081065"/>
          </a:xfrm>
          <a:prstGeom prst="rect">
            <a:avLst/>
          </a:prstGeom>
          <a:noFill/>
          <a:ln>
            <a:noFill/>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Font typeface="Arial" panose="020B0604020202020204" pitchFamily="34" charset="0"/>
              <a:buChar char="•"/>
            </a:pPr>
            <a:r>
              <a:rPr lang="en-AU" sz="900" b="0" i="0" u="none" strike="noStrike" cap="none" dirty="0">
                <a:solidFill>
                  <a:srgbClr val="000000"/>
                </a:solidFill>
                <a:latin typeface="Arial"/>
                <a:ea typeface="Arial"/>
                <a:cs typeface="Arial"/>
                <a:sym typeface="Arial"/>
              </a:rPr>
              <a:t>Reliability Engineer – Chanel Adams</a:t>
            </a:r>
          </a:p>
          <a:p>
            <a:pPr marL="171450" marR="0" lvl="0" indent="-171450" algn="l" rtl="0">
              <a:lnSpc>
                <a:spcPct val="100000"/>
              </a:lnSpc>
              <a:spcBef>
                <a:spcPts val="0"/>
              </a:spcBef>
              <a:spcAft>
                <a:spcPts val="0"/>
              </a:spcAft>
              <a:buFont typeface="Arial" panose="020B0604020202020204" pitchFamily="34" charset="0"/>
              <a:buChar char="•"/>
            </a:pPr>
            <a:r>
              <a:rPr lang="en-AU" sz="900" dirty="0"/>
              <a:t>Asset Integrity Manager – Jonas Richards</a:t>
            </a:r>
          </a:p>
          <a:p>
            <a:pPr marL="171450" marR="0" lvl="0" indent="-171450" algn="l" rtl="0">
              <a:lnSpc>
                <a:spcPct val="100000"/>
              </a:lnSpc>
              <a:spcBef>
                <a:spcPts val="0"/>
              </a:spcBef>
              <a:spcAft>
                <a:spcPts val="0"/>
              </a:spcAft>
              <a:buFont typeface="Arial" panose="020B0604020202020204" pitchFamily="34" charset="0"/>
              <a:buChar char="•"/>
            </a:pPr>
            <a:r>
              <a:rPr lang="en-AU" sz="900" b="0" i="0" u="none" strike="noStrike" cap="none" dirty="0">
                <a:solidFill>
                  <a:srgbClr val="000000"/>
                </a:solidFill>
                <a:latin typeface="Arial"/>
                <a:ea typeface="Arial"/>
                <a:cs typeface="Arial"/>
                <a:sym typeface="Arial"/>
              </a:rPr>
              <a:t>Maintenance SME – Bruce Banner</a:t>
            </a:r>
          </a:p>
          <a:p>
            <a:pPr marL="171450" marR="0" lvl="0" indent="-171450" algn="l" rtl="0">
              <a:lnSpc>
                <a:spcPct val="100000"/>
              </a:lnSpc>
              <a:spcBef>
                <a:spcPts val="0"/>
              </a:spcBef>
              <a:spcAft>
                <a:spcPts val="0"/>
              </a:spcAft>
              <a:buFont typeface="Arial" panose="020B0604020202020204" pitchFamily="34" charset="0"/>
              <a:buChar char="•"/>
            </a:pPr>
            <a:r>
              <a:rPr lang="en-AU" sz="900" dirty="0"/>
              <a:t>Principal Maintenance – Jane Steere</a:t>
            </a:r>
          </a:p>
          <a:p>
            <a:pPr marL="171450" marR="0" lvl="0" indent="-171450" algn="l" rtl="0">
              <a:lnSpc>
                <a:spcPct val="100000"/>
              </a:lnSpc>
              <a:spcBef>
                <a:spcPts val="0"/>
              </a:spcBef>
              <a:spcAft>
                <a:spcPts val="0"/>
              </a:spcAft>
              <a:buFont typeface="Arial" panose="020B0604020202020204" pitchFamily="34" charset="0"/>
              <a:buChar char="•"/>
            </a:pPr>
            <a:r>
              <a:rPr lang="en-AU" sz="900" b="0" i="0" u="none" strike="noStrike" cap="none" dirty="0">
                <a:solidFill>
                  <a:srgbClr val="000000"/>
                </a:solidFill>
                <a:latin typeface="Arial"/>
                <a:ea typeface="Arial"/>
                <a:cs typeface="Arial"/>
                <a:sym typeface="Arial"/>
              </a:rPr>
              <a:t>Change Manager- Fargo Willians</a:t>
            </a:r>
          </a:p>
          <a:p>
            <a:pPr marL="171450" marR="0" lvl="0" indent="-171450" algn="l" rtl="0">
              <a:lnSpc>
                <a:spcPct val="100000"/>
              </a:lnSpc>
              <a:spcBef>
                <a:spcPts val="0"/>
              </a:spcBef>
              <a:spcAft>
                <a:spcPts val="0"/>
              </a:spcAft>
              <a:buFont typeface="Arial" panose="020B0604020202020204" pitchFamily="34" charset="0"/>
              <a:buChar char="•"/>
            </a:pPr>
            <a:r>
              <a:rPr lang="en-AU" sz="900" dirty="0"/>
              <a:t>Maintenance SME – Tara Starr</a:t>
            </a:r>
            <a:endParaRPr sz="900" b="0" i="0" u="none" strike="noStrike" cap="none" dirty="0">
              <a:solidFill>
                <a:srgbClr val="000000"/>
              </a:solidFill>
              <a:latin typeface="Arial"/>
              <a:ea typeface="Arial"/>
              <a:cs typeface="Arial"/>
              <a:sym typeface="Arial"/>
            </a:endParaRPr>
          </a:p>
        </p:txBody>
      </p:sp>
      <p:sp>
        <p:nvSpPr>
          <p:cNvPr id="48" name="Google Shape;48;p1">
            <a:extLst>
              <a:ext uri="{FF2B5EF4-FFF2-40B4-BE49-F238E27FC236}">
                <a16:creationId xmlns:a16="http://schemas.microsoft.com/office/drawing/2014/main" id="{BC375DBE-5E66-D92C-0923-E727FADC8FA6}"/>
              </a:ext>
            </a:extLst>
          </p:cNvPr>
          <p:cNvSpPr txBox="1"/>
          <p:nvPr/>
        </p:nvSpPr>
        <p:spPr>
          <a:xfrm>
            <a:off x="184140" y="540901"/>
            <a:ext cx="7478532" cy="69932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AU" sz="1000" b="1" dirty="0"/>
              <a:t>What steps Monalco Mining should take to address profitability challenges due to drastic decline in iron ore prices(from $110 per ton to $55 per ton) and target cost efficiency by implementing 20% cost reduction in ore crusher maintenance to safeguard business sustainability under unfavourable market conditions.</a:t>
            </a:r>
            <a:endParaRPr sz="1000" b="1"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668347303"/>
      </p:ext>
    </p:extLst>
  </p:cSld>
  <p:clrMapOvr>
    <a:masterClrMapping/>
  </p:clrMapOvr>
</p:sld>
</file>

<file path=ppt/theme/theme1.xml><?xml version="1.0" encoding="utf-8"?>
<a:theme xmlns:a="http://schemas.openxmlformats.org/drawingml/2006/main" name="Synergy_CF_YNR002">
  <a:themeElements>
    <a:clrScheme name="Current">
      <a:dk1>
        <a:srgbClr val="002C46"/>
      </a:dk1>
      <a:lt1>
        <a:srgbClr val="FFFFFF"/>
      </a:lt1>
      <a:dk2>
        <a:srgbClr val="FBC14E"/>
      </a:dk2>
      <a:lt2>
        <a:srgbClr val="879C16"/>
      </a:lt2>
      <a:accent1>
        <a:srgbClr val="99AABE"/>
      </a:accent1>
      <a:accent2>
        <a:srgbClr val="406085"/>
      </a:accent2>
      <a:accent3>
        <a:srgbClr val="002C46"/>
      </a:accent3>
      <a:accent4>
        <a:srgbClr val="FBC14E"/>
      </a:accent4>
      <a:accent5>
        <a:srgbClr val="379BBD"/>
      </a:accent5>
      <a:accent6>
        <a:srgbClr val="808080"/>
      </a:accent6>
      <a:hlink>
        <a:srgbClr val="002C46"/>
      </a:hlink>
      <a:folHlink>
        <a:srgbClr val="FBC1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846</Words>
  <Application>Microsoft Office PowerPoint</Application>
  <PresentationFormat>On-screen Show (4:3)</PresentationFormat>
  <Paragraphs>62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Quattrocento Sans</vt:lpstr>
      <vt:lpstr>Synergy_CF_YNR002</vt:lpstr>
      <vt:lpstr>Problem Statement Worksheet (Hypothesis 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Christopher H</dc:creator>
  <cp:lastModifiedBy>Mishra, Ritu, VBAVACO</cp:lastModifiedBy>
  <cp:revision>1</cp:revision>
  <dcterms:modified xsi:type="dcterms:W3CDTF">2025-10-02T17:48:34Z</dcterms:modified>
</cp:coreProperties>
</file>